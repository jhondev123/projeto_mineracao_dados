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rgbClr val="0F2A4A"/>
                </a:solidFill>
              </a:defRPr>
            </a:pPr>
            <a:r>
              <a:t>Dólar (R$ por US$)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Dólar (R$ por US$)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none"/>
          </c:marker>
          <c:xVal>
            <c:numRef>
              <c:f>Sheet1!$A$2:$A$176</c:f>
              <c:numCache>
                <c:formatCode>General</c:formatCode>
                <c:ptCount val="175"/>
                <c:pt idx="0">
                  <c:v>2012.0</c:v>
                </c:pt>
                <c:pt idx="1">
                  <c:v>2012.0833333333333</c:v>
                </c:pt>
                <c:pt idx="2">
                  <c:v>2012.1666666666667</c:v>
                </c:pt>
                <c:pt idx="3">
                  <c:v>2012.25</c:v>
                </c:pt>
                <c:pt idx="4">
                  <c:v>2012.3333333333333</c:v>
                </c:pt>
                <c:pt idx="5">
                  <c:v>2012.4166666666667</c:v>
                </c:pt>
                <c:pt idx="6">
                  <c:v>2012.5</c:v>
                </c:pt>
                <c:pt idx="7">
                  <c:v>2012.5833333333333</c:v>
                </c:pt>
                <c:pt idx="8">
                  <c:v>2012.6666666666667</c:v>
                </c:pt>
                <c:pt idx="9">
                  <c:v>2012.75</c:v>
                </c:pt>
                <c:pt idx="10">
                  <c:v>2012.8333333333333</c:v>
                </c:pt>
                <c:pt idx="11">
                  <c:v>2012.9166666666667</c:v>
                </c:pt>
                <c:pt idx="12">
                  <c:v>2013.0</c:v>
                </c:pt>
                <c:pt idx="13">
                  <c:v>2013.0833333333333</c:v>
                </c:pt>
                <c:pt idx="14">
                  <c:v>2013.1666666666667</c:v>
                </c:pt>
                <c:pt idx="15">
                  <c:v>2013.25</c:v>
                </c:pt>
                <c:pt idx="16">
                  <c:v>2013.3333333333333</c:v>
                </c:pt>
                <c:pt idx="17">
                  <c:v>2013.4166666666667</c:v>
                </c:pt>
                <c:pt idx="18">
                  <c:v>2013.5</c:v>
                </c:pt>
                <c:pt idx="19">
                  <c:v>2013.5833333333333</c:v>
                </c:pt>
                <c:pt idx="20">
                  <c:v>2013.6666666666667</c:v>
                </c:pt>
                <c:pt idx="21">
                  <c:v>2013.75</c:v>
                </c:pt>
                <c:pt idx="22">
                  <c:v>2013.8333333333333</c:v>
                </c:pt>
                <c:pt idx="23">
                  <c:v>2013.9166666666667</c:v>
                </c:pt>
                <c:pt idx="24">
                  <c:v>2014.0</c:v>
                </c:pt>
                <c:pt idx="25">
                  <c:v>2014.0833333333333</c:v>
                </c:pt>
                <c:pt idx="26">
                  <c:v>2014.1666666666667</c:v>
                </c:pt>
                <c:pt idx="27">
                  <c:v>2014.25</c:v>
                </c:pt>
                <c:pt idx="28">
                  <c:v>2014.3333333333333</c:v>
                </c:pt>
                <c:pt idx="29">
                  <c:v>2014.4166666666667</c:v>
                </c:pt>
                <c:pt idx="30">
                  <c:v>2014.5</c:v>
                </c:pt>
                <c:pt idx="31">
                  <c:v>2014.5833333333333</c:v>
                </c:pt>
                <c:pt idx="32">
                  <c:v>2014.6666666666667</c:v>
                </c:pt>
                <c:pt idx="33">
                  <c:v>2014.75</c:v>
                </c:pt>
                <c:pt idx="34">
                  <c:v>2014.8333333333333</c:v>
                </c:pt>
                <c:pt idx="35">
                  <c:v>2014.9166666666667</c:v>
                </c:pt>
                <c:pt idx="36">
                  <c:v>2015.0</c:v>
                </c:pt>
                <c:pt idx="37">
                  <c:v>2015.0833333333333</c:v>
                </c:pt>
                <c:pt idx="38">
                  <c:v>2015.1666666666667</c:v>
                </c:pt>
                <c:pt idx="39">
                  <c:v>2015.25</c:v>
                </c:pt>
                <c:pt idx="40">
                  <c:v>2015.3333333333333</c:v>
                </c:pt>
                <c:pt idx="41">
                  <c:v>2015.4166666666667</c:v>
                </c:pt>
                <c:pt idx="42">
                  <c:v>2015.5</c:v>
                </c:pt>
                <c:pt idx="43">
                  <c:v>2015.5833333333333</c:v>
                </c:pt>
                <c:pt idx="44">
                  <c:v>2015.6666666666667</c:v>
                </c:pt>
                <c:pt idx="45">
                  <c:v>2015.75</c:v>
                </c:pt>
                <c:pt idx="46">
                  <c:v>2015.8333333333333</c:v>
                </c:pt>
                <c:pt idx="47">
                  <c:v>2015.9166666666667</c:v>
                </c:pt>
                <c:pt idx="48">
                  <c:v>2016.0</c:v>
                </c:pt>
                <c:pt idx="49">
                  <c:v>2016.0833333333333</c:v>
                </c:pt>
                <c:pt idx="50">
                  <c:v>2016.1666666666667</c:v>
                </c:pt>
                <c:pt idx="51">
                  <c:v>2016.25</c:v>
                </c:pt>
                <c:pt idx="52">
                  <c:v>2016.3333333333333</c:v>
                </c:pt>
                <c:pt idx="53">
                  <c:v>2016.4166666666667</c:v>
                </c:pt>
                <c:pt idx="54">
                  <c:v>2016.5</c:v>
                </c:pt>
                <c:pt idx="55">
                  <c:v>2016.5833333333333</c:v>
                </c:pt>
                <c:pt idx="56">
                  <c:v>2016.6666666666667</c:v>
                </c:pt>
                <c:pt idx="57">
                  <c:v>2016.75</c:v>
                </c:pt>
                <c:pt idx="58">
                  <c:v>2016.8333333333333</c:v>
                </c:pt>
                <c:pt idx="59">
                  <c:v>2016.9166666666667</c:v>
                </c:pt>
                <c:pt idx="60">
                  <c:v>2017.0</c:v>
                </c:pt>
                <c:pt idx="61">
                  <c:v>2017.0833333333333</c:v>
                </c:pt>
                <c:pt idx="62">
                  <c:v>2017.1666666666667</c:v>
                </c:pt>
                <c:pt idx="63">
                  <c:v>2017.25</c:v>
                </c:pt>
                <c:pt idx="64">
                  <c:v>2017.3333333333333</c:v>
                </c:pt>
                <c:pt idx="65">
                  <c:v>2017.4166666666667</c:v>
                </c:pt>
                <c:pt idx="66">
                  <c:v>2017.5</c:v>
                </c:pt>
                <c:pt idx="67">
                  <c:v>2017.5833333333333</c:v>
                </c:pt>
                <c:pt idx="68">
                  <c:v>2017.6666666666667</c:v>
                </c:pt>
                <c:pt idx="69">
                  <c:v>2017.75</c:v>
                </c:pt>
                <c:pt idx="70">
                  <c:v>2017.8333333333333</c:v>
                </c:pt>
                <c:pt idx="71">
                  <c:v>2017.9166666666667</c:v>
                </c:pt>
                <c:pt idx="72">
                  <c:v>2018.0</c:v>
                </c:pt>
                <c:pt idx="73">
                  <c:v>2018.0833333333333</c:v>
                </c:pt>
                <c:pt idx="74">
                  <c:v>2018.1666666666667</c:v>
                </c:pt>
                <c:pt idx="75">
                  <c:v>2018.25</c:v>
                </c:pt>
                <c:pt idx="76">
                  <c:v>2018.3333333333333</c:v>
                </c:pt>
                <c:pt idx="77">
                  <c:v>2018.4166666666667</c:v>
                </c:pt>
                <c:pt idx="78">
                  <c:v>2018.5</c:v>
                </c:pt>
                <c:pt idx="79">
                  <c:v>2018.5833333333333</c:v>
                </c:pt>
                <c:pt idx="80">
                  <c:v>2018.6666666666667</c:v>
                </c:pt>
                <c:pt idx="81">
                  <c:v>2018.75</c:v>
                </c:pt>
                <c:pt idx="82">
                  <c:v>2018.8333333333333</c:v>
                </c:pt>
                <c:pt idx="83">
                  <c:v>2018.9166666666667</c:v>
                </c:pt>
                <c:pt idx="84">
                  <c:v>2019.0</c:v>
                </c:pt>
                <c:pt idx="85">
                  <c:v>2019.0833333333333</c:v>
                </c:pt>
                <c:pt idx="86">
                  <c:v>2019.1666666666667</c:v>
                </c:pt>
                <c:pt idx="87">
                  <c:v>2019.25</c:v>
                </c:pt>
                <c:pt idx="88">
                  <c:v>2019.3333333333333</c:v>
                </c:pt>
                <c:pt idx="89">
                  <c:v>2019.4166666666667</c:v>
                </c:pt>
                <c:pt idx="90">
                  <c:v>2019.5</c:v>
                </c:pt>
                <c:pt idx="91">
                  <c:v>2019.5833333333333</c:v>
                </c:pt>
                <c:pt idx="92">
                  <c:v>2019.6666666666667</c:v>
                </c:pt>
                <c:pt idx="93">
                  <c:v>2019.75</c:v>
                </c:pt>
                <c:pt idx="94">
                  <c:v>2019.8333333333333</c:v>
                </c:pt>
                <c:pt idx="95">
                  <c:v>2019.9166666666667</c:v>
                </c:pt>
                <c:pt idx="96">
                  <c:v>2020.0</c:v>
                </c:pt>
                <c:pt idx="97">
                  <c:v>2020.0833333333333</c:v>
                </c:pt>
                <c:pt idx="98">
                  <c:v>2020.1666666666667</c:v>
                </c:pt>
                <c:pt idx="99">
                  <c:v>2020.25</c:v>
                </c:pt>
                <c:pt idx="100">
                  <c:v>2020.3333333333333</c:v>
                </c:pt>
                <c:pt idx="101">
                  <c:v>2020.4166666666667</c:v>
                </c:pt>
                <c:pt idx="102">
                  <c:v>2020.5</c:v>
                </c:pt>
                <c:pt idx="103">
                  <c:v>2020.5833333333333</c:v>
                </c:pt>
                <c:pt idx="104">
                  <c:v>2020.6666666666667</c:v>
                </c:pt>
                <c:pt idx="105">
                  <c:v>2020.75</c:v>
                </c:pt>
                <c:pt idx="106">
                  <c:v>2020.8333333333333</c:v>
                </c:pt>
                <c:pt idx="107">
                  <c:v>2020.9166666666667</c:v>
                </c:pt>
                <c:pt idx="108">
                  <c:v>2021.0</c:v>
                </c:pt>
                <c:pt idx="109">
                  <c:v>2021.0833333333333</c:v>
                </c:pt>
                <c:pt idx="110">
                  <c:v>2021.1666666666667</c:v>
                </c:pt>
                <c:pt idx="111">
                  <c:v>2021.25</c:v>
                </c:pt>
                <c:pt idx="112">
                  <c:v>2021.3333333333333</c:v>
                </c:pt>
                <c:pt idx="113">
                  <c:v>2021.4166666666667</c:v>
                </c:pt>
                <c:pt idx="114">
                  <c:v>2021.5</c:v>
                </c:pt>
                <c:pt idx="115">
                  <c:v>2021.5833333333333</c:v>
                </c:pt>
                <c:pt idx="116">
                  <c:v>2021.6666666666667</c:v>
                </c:pt>
                <c:pt idx="117">
                  <c:v>2021.75</c:v>
                </c:pt>
                <c:pt idx="118">
                  <c:v>2021.8333333333333</c:v>
                </c:pt>
                <c:pt idx="119">
                  <c:v>2021.9166666666667</c:v>
                </c:pt>
                <c:pt idx="120">
                  <c:v>2022.0</c:v>
                </c:pt>
                <c:pt idx="121">
                  <c:v>2022.0833333333333</c:v>
                </c:pt>
                <c:pt idx="122">
                  <c:v>2022.1666666666667</c:v>
                </c:pt>
                <c:pt idx="123">
                  <c:v>2022.25</c:v>
                </c:pt>
                <c:pt idx="124">
                  <c:v>2022.3333333333333</c:v>
                </c:pt>
                <c:pt idx="125">
                  <c:v>2022.4166666666667</c:v>
                </c:pt>
                <c:pt idx="126">
                  <c:v>2022.5</c:v>
                </c:pt>
                <c:pt idx="127">
                  <c:v>2022.5833333333333</c:v>
                </c:pt>
                <c:pt idx="128">
                  <c:v>2022.6666666666667</c:v>
                </c:pt>
                <c:pt idx="129">
                  <c:v>2022.75</c:v>
                </c:pt>
                <c:pt idx="130">
                  <c:v>2022.8333333333333</c:v>
                </c:pt>
                <c:pt idx="131">
                  <c:v>2022.9166666666667</c:v>
                </c:pt>
                <c:pt idx="132">
                  <c:v>2023.0</c:v>
                </c:pt>
                <c:pt idx="133">
                  <c:v>2023.0833333333333</c:v>
                </c:pt>
                <c:pt idx="134">
                  <c:v>2023.1666666666667</c:v>
                </c:pt>
                <c:pt idx="135">
                  <c:v>2023.25</c:v>
                </c:pt>
                <c:pt idx="136">
                  <c:v>2023.3333333333333</c:v>
                </c:pt>
                <c:pt idx="137">
                  <c:v>2023.4166666666667</c:v>
                </c:pt>
                <c:pt idx="138">
                  <c:v>2023.5</c:v>
                </c:pt>
                <c:pt idx="139">
                  <c:v>2023.5833333333333</c:v>
                </c:pt>
                <c:pt idx="140">
                  <c:v>2023.6666666666667</c:v>
                </c:pt>
                <c:pt idx="141">
                  <c:v>2023.75</c:v>
                </c:pt>
                <c:pt idx="142">
                  <c:v>2023.8333333333333</c:v>
                </c:pt>
                <c:pt idx="143">
                  <c:v>2023.9166666666667</c:v>
                </c:pt>
                <c:pt idx="144">
                  <c:v>2024.0</c:v>
                </c:pt>
                <c:pt idx="145">
                  <c:v>2024.0833333333333</c:v>
                </c:pt>
                <c:pt idx="146">
                  <c:v>2024.1666666666667</c:v>
                </c:pt>
                <c:pt idx="147">
                  <c:v>2024.25</c:v>
                </c:pt>
                <c:pt idx="148">
                  <c:v>2024.3333333333333</c:v>
                </c:pt>
                <c:pt idx="149">
                  <c:v>2024.4166666666667</c:v>
                </c:pt>
                <c:pt idx="150">
                  <c:v>2024.5</c:v>
                </c:pt>
                <c:pt idx="151">
                  <c:v>2024.5833333333333</c:v>
                </c:pt>
                <c:pt idx="152">
                  <c:v>2024.6666666666667</c:v>
                </c:pt>
                <c:pt idx="153">
                  <c:v>2024.75</c:v>
                </c:pt>
                <c:pt idx="154">
                  <c:v>2024.8333333333333</c:v>
                </c:pt>
                <c:pt idx="155">
                  <c:v>2024.9166666666667</c:v>
                </c:pt>
                <c:pt idx="156">
                  <c:v>2025.0</c:v>
                </c:pt>
                <c:pt idx="157">
                  <c:v>2025.0833333333333</c:v>
                </c:pt>
                <c:pt idx="158">
                  <c:v>2025.1666666666667</c:v>
                </c:pt>
                <c:pt idx="159">
                  <c:v>2025.25</c:v>
                </c:pt>
                <c:pt idx="160">
                  <c:v>2025.3333333333333</c:v>
                </c:pt>
                <c:pt idx="161">
                  <c:v>2025.4166666666667</c:v>
                </c:pt>
                <c:pt idx="162">
                  <c:v>2025.5</c:v>
                </c:pt>
                <c:pt idx="163">
                  <c:v>2025.5833333333333</c:v>
                </c:pt>
                <c:pt idx="164">
                  <c:v>2025.6666666666667</c:v>
                </c:pt>
                <c:pt idx="165">
                  <c:v>2025.75</c:v>
                </c:pt>
                <c:pt idx="166">
                  <c:v>2025.8333333333333</c:v>
                </c:pt>
                <c:pt idx="167">
                  <c:v>2025.9166666666667</c:v>
                </c:pt>
                <c:pt idx="168">
                  <c:v>2026.0</c:v>
                </c:pt>
                <c:pt idx="169">
                  <c:v>2026.0833333333333</c:v>
                </c:pt>
                <c:pt idx="170">
                  <c:v>2026.1666666666667</c:v>
                </c:pt>
                <c:pt idx="171">
                  <c:v>2026.25</c:v>
                </c:pt>
                <c:pt idx="172">
                  <c:v>2026.3333333333333</c:v>
                </c:pt>
                <c:pt idx="173">
                  <c:v>2026.4166666666667</c:v>
                </c:pt>
                <c:pt idx="174">
                  <c:v>2026.5</c:v>
                </c:pt>
              </c:numCache>
            </c:numRef>
          </c:xVal>
          <c:yVal>
            <c:numRef>
              <c:f>Sheet1!$B$2:$B$176</c:f>
              <c:numCache>
                <c:formatCode>General</c:formatCode>
                <c:ptCount val="175"/>
                <c:pt idx="0">
                  <c:v>1.7897</c:v>
                </c:pt>
                <c:pt idx="1">
                  <c:v>1.7184</c:v>
                </c:pt>
                <c:pt idx="2">
                  <c:v>1.7953</c:v>
                </c:pt>
                <c:pt idx="3">
                  <c:v>1.8548</c:v>
                </c:pt>
                <c:pt idx="4">
                  <c:v>1.986</c:v>
                </c:pt>
                <c:pt idx="5">
                  <c:v>2.0492</c:v>
                </c:pt>
                <c:pt idx="6">
                  <c:v>2.0287</c:v>
                </c:pt>
                <c:pt idx="7">
                  <c:v>2.0294</c:v>
                </c:pt>
                <c:pt idx="8">
                  <c:v>2.0281</c:v>
                </c:pt>
                <c:pt idx="9">
                  <c:v>2.0298</c:v>
                </c:pt>
                <c:pt idx="10">
                  <c:v>2.0678</c:v>
                </c:pt>
                <c:pt idx="11">
                  <c:v>2.0778</c:v>
                </c:pt>
                <c:pt idx="12">
                  <c:v>2.0311</c:v>
                </c:pt>
                <c:pt idx="13">
                  <c:v>1.9733</c:v>
                </c:pt>
                <c:pt idx="14">
                  <c:v>1.9828</c:v>
                </c:pt>
                <c:pt idx="15">
                  <c:v>2.0022</c:v>
                </c:pt>
                <c:pt idx="16">
                  <c:v>2.0348</c:v>
                </c:pt>
                <c:pt idx="17">
                  <c:v>2.173</c:v>
                </c:pt>
                <c:pt idx="18">
                  <c:v>2.2522</c:v>
                </c:pt>
                <c:pt idx="19">
                  <c:v>2.3422</c:v>
                </c:pt>
                <c:pt idx="20">
                  <c:v>2.2705</c:v>
                </c:pt>
                <c:pt idx="21">
                  <c:v>2.1886</c:v>
                </c:pt>
                <c:pt idx="22">
                  <c:v>2.2954</c:v>
                </c:pt>
                <c:pt idx="23">
                  <c:v>2.3455</c:v>
                </c:pt>
                <c:pt idx="24">
                  <c:v>2.3822</c:v>
                </c:pt>
                <c:pt idx="25">
                  <c:v>2.3837</c:v>
                </c:pt>
                <c:pt idx="26">
                  <c:v>2.3261</c:v>
                </c:pt>
                <c:pt idx="27">
                  <c:v>2.2328</c:v>
                </c:pt>
                <c:pt idx="28">
                  <c:v>2.2209</c:v>
                </c:pt>
                <c:pt idx="29">
                  <c:v>2.2355</c:v>
                </c:pt>
                <c:pt idx="30">
                  <c:v>2.2246</c:v>
                </c:pt>
                <c:pt idx="31">
                  <c:v>2.268</c:v>
                </c:pt>
                <c:pt idx="32">
                  <c:v>2.3329</c:v>
                </c:pt>
                <c:pt idx="33">
                  <c:v>2.4483</c:v>
                </c:pt>
                <c:pt idx="34">
                  <c:v>2.5484</c:v>
                </c:pt>
                <c:pt idx="35">
                  <c:v>2.6394</c:v>
                </c:pt>
                <c:pt idx="36">
                  <c:v>2.6342</c:v>
                </c:pt>
                <c:pt idx="37">
                  <c:v>2.8165</c:v>
                </c:pt>
                <c:pt idx="38">
                  <c:v>3.1395</c:v>
                </c:pt>
                <c:pt idx="39">
                  <c:v>3.0432</c:v>
                </c:pt>
                <c:pt idx="40">
                  <c:v>3.0617</c:v>
                </c:pt>
                <c:pt idx="41">
                  <c:v>3.1117</c:v>
                </c:pt>
                <c:pt idx="42">
                  <c:v>3.2231</c:v>
                </c:pt>
                <c:pt idx="43">
                  <c:v>3.5143</c:v>
                </c:pt>
                <c:pt idx="44">
                  <c:v>3.9065</c:v>
                </c:pt>
                <c:pt idx="45">
                  <c:v>3.8801</c:v>
                </c:pt>
                <c:pt idx="46">
                  <c:v>3.7765</c:v>
                </c:pt>
                <c:pt idx="47">
                  <c:v>3.8711</c:v>
                </c:pt>
                <c:pt idx="48">
                  <c:v>4.0524</c:v>
                </c:pt>
                <c:pt idx="49">
                  <c:v>3.9737</c:v>
                </c:pt>
                <c:pt idx="50">
                  <c:v>3.7039</c:v>
                </c:pt>
                <c:pt idx="51">
                  <c:v>3.5658</c:v>
                </c:pt>
                <c:pt idx="52">
                  <c:v>3.5393</c:v>
                </c:pt>
                <c:pt idx="53">
                  <c:v>3.4245</c:v>
                </c:pt>
                <c:pt idx="54">
                  <c:v>3.2756</c:v>
                </c:pt>
                <c:pt idx="55">
                  <c:v>3.2097</c:v>
                </c:pt>
                <c:pt idx="56">
                  <c:v>3.2564</c:v>
                </c:pt>
                <c:pt idx="57">
                  <c:v>3.1858</c:v>
                </c:pt>
                <c:pt idx="58">
                  <c:v>3.342</c:v>
                </c:pt>
                <c:pt idx="59">
                  <c:v>3.3523</c:v>
                </c:pt>
                <c:pt idx="60">
                  <c:v>3.1966</c:v>
                </c:pt>
                <c:pt idx="61">
                  <c:v>3.1042</c:v>
                </c:pt>
                <c:pt idx="62">
                  <c:v>3.1279</c:v>
                </c:pt>
                <c:pt idx="63">
                  <c:v>3.1362</c:v>
                </c:pt>
                <c:pt idx="64">
                  <c:v>3.2095</c:v>
                </c:pt>
                <c:pt idx="65">
                  <c:v>3.2954</c:v>
                </c:pt>
                <c:pt idx="66">
                  <c:v>3.2061</c:v>
                </c:pt>
                <c:pt idx="67">
                  <c:v>3.1509</c:v>
                </c:pt>
                <c:pt idx="68">
                  <c:v>3.1348</c:v>
                </c:pt>
                <c:pt idx="69">
                  <c:v>3.1912</c:v>
                </c:pt>
                <c:pt idx="70">
                  <c:v>3.2594</c:v>
                </c:pt>
                <c:pt idx="71">
                  <c:v>3.2919</c:v>
                </c:pt>
                <c:pt idx="72">
                  <c:v>3.2106</c:v>
                </c:pt>
                <c:pt idx="73">
                  <c:v>3.2415</c:v>
                </c:pt>
                <c:pt idx="74">
                  <c:v>3.2792</c:v>
                </c:pt>
                <c:pt idx="75">
                  <c:v>3.4075</c:v>
                </c:pt>
                <c:pt idx="76">
                  <c:v>3.6361</c:v>
                </c:pt>
                <c:pt idx="77">
                  <c:v>3.7732</c:v>
                </c:pt>
                <c:pt idx="78">
                  <c:v>3.8288</c:v>
                </c:pt>
                <c:pt idx="79">
                  <c:v>3.9298</c:v>
                </c:pt>
                <c:pt idx="80">
                  <c:v>4.1165</c:v>
                </c:pt>
                <c:pt idx="81">
                  <c:v>3.7584</c:v>
                </c:pt>
                <c:pt idx="82">
                  <c:v>3.7867</c:v>
                </c:pt>
                <c:pt idx="83">
                  <c:v>3.8851</c:v>
                </c:pt>
                <c:pt idx="84">
                  <c:v>3.7417</c:v>
                </c:pt>
                <c:pt idx="85">
                  <c:v>3.7236</c:v>
                </c:pt>
                <c:pt idx="86">
                  <c:v>3.8465</c:v>
                </c:pt>
                <c:pt idx="87">
                  <c:v>3.8962</c:v>
                </c:pt>
                <c:pt idx="88">
                  <c:v>4.0015</c:v>
                </c:pt>
                <c:pt idx="89">
                  <c:v>3.8588</c:v>
                </c:pt>
                <c:pt idx="90">
                  <c:v>3.7793</c:v>
                </c:pt>
                <c:pt idx="91">
                  <c:v>4.02</c:v>
                </c:pt>
                <c:pt idx="92">
                  <c:v>4.1215</c:v>
                </c:pt>
                <c:pt idx="93">
                  <c:v>4.087</c:v>
                </c:pt>
                <c:pt idx="94">
                  <c:v>4.1553</c:v>
                </c:pt>
                <c:pt idx="95">
                  <c:v>4.1096</c:v>
                </c:pt>
                <c:pt idx="96">
                  <c:v>4.1495</c:v>
                </c:pt>
                <c:pt idx="97">
                  <c:v>4.341</c:v>
                </c:pt>
                <c:pt idx="98">
                  <c:v>4.8839</c:v>
                </c:pt>
                <c:pt idx="99">
                  <c:v>5.3256</c:v>
                </c:pt>
                <c:pt idx="100">
                  <c:v>5.6434</c:v>
                </c:pt>
                <c:pt idx="101">
                  <c:v>5.1966</c:v>
                </c:pt>
                <c:pt idx="102">
                  <c:v>5.2802</c:v>
                </c:pt>
                <c:pt idx="103">
                  <c:v>5.4612</c:v>
                </c:pt>
                <c:pt idx="104">
                  <c:v>5.3995</c:v>
                </c:pt>
                <c:pt idx="105">
                  <c:v>5.6258</c:v>
                </c:pt>
                <c:pt idx="106">
                  <c:v>5.4178</c:v>
                </c:pt>
                <c:pt idx="107">
                  <c:v>5.1456</c:v>
                </c:pt>
                <c:pt idx="108">
                  <c:v>5.3562</c:v>
                </c:pt>
                <c:pt idx="109">
                  <c:v>5.4165</c:v>
                </c:pt>
                <c:pt idx="110">
                  <c:v>5.6461</c:v>
                </c:pt>
                <c:pt idx="111">
                  <c:v>5.5621</c:v>
                </c:pt>
                <c:pt idx="112">
                  <c:v>5.2911</c:v>
                </c:pt>
                <c:pt idx="113">
                  <c:v>5.0319</c:v>
                </c:pt>
                <c:pt idx="114">
                  <c:v>5.1567</c:v>
                </c:pt>
                <c:pt idx="115">
                  <c:v>5.2517</c:v>
                </c:pt>
                <c:pt idx="116">
                  <c:v>5.2797</c:v>
                </c:pt>
                <c:pt idx="117">
                  <c:v>5.54</c:v>
                </c:pt>
                <c:pt idx="118">
                  <c:v>5.5569</c:v>
                </c:pt>
                <c:pt idx="119">
                  <c:v>5.6514</c:v>
                </c:pt>
                <c:pt idx="120">
                  <c:v>5.5341</c:v>
                </c:pt>
                <c:pt idx="121">
                  <c:v>5.1966</c:v>
                </c:pt>
                <c:pt idx="122">
                  <c:v>4.9684</c:v>
                </c:pt>
                <c:pt idx="123">
                  <c:v>4.758</c:v>
                </c:pt>
                <c:pt idx="124">
                  <c:v>4.9551</c:v>
                </c:pt>
                <c:pt idx="125">
                  <c:v>5.0492</c:v>
                </c:pt>
                <c:pt idx="126">
                  <c:v>5.3681</c:v>
                </c:pt>
                <c:pt idx="127">
                  <c:v>5.1433</c:v>
                </c:pt>
                <c:pt idx="128">
                  <c:v>5.237</c:v>
                </c:pt>
                <c:pt idx="129">
                  <c:v>5.2503</c:v>
                </c:pt>
                <c:pt idx="130">
                  <c:v>5.2747</c:v>
                </c:pt>
                <c:pt idx="131">
                  <c:v>5.2424</c:v>
                </c:pt>
                <c:pt idx="132">
                  <c:v>5.2007</c:v>
                </c:pt>
                <c:pt idx="133">
                  <c:v>5.1717</c:v>
                </c:pt>
                <c:pt idx="134">
                  <c:v>5.2115</c:v>
                </c:pt>
                <c:pt idx="135">
                  <c:v>5.0197</c:v>
                </c:pt>
                <c:pt idx="136">
                  <c:v>4.9828</c:v>
                </c:pt>
                <c:pt idx="137">
                  <c:v>4.8516</c:v>
                </c:pt>
                <c:pt idx="138">
                  <c:v>4.8008</c:v>
                </c:pt>
                <c:pt idx="139">
                  <c:v>4.9035</c:v>
                </c:pt>
                <c:pt idx="140">
                  <c:v>4.937</c:v>
                </c:pt>
                <c:pt idx="141">
                  <c:v>5.0648</c:v>
                </c:pt>
                <c:pt idx="142">
                  <c:v>4.8983</c:v>
                </c:pt>
                <c:pt idx="143">
                  <c:v>4.8972</c:v>
                </c:pt>
                <c:pt idx="144">
                  <c:v>4.9144</c:v>
                </c:pt>
                <c:pt idx="145">
                  <c:v>4.9644</c:v>
                </c:pt>
                <c:pt idx="146">
                  <c:v>4.9801</c:v>
                </c:pt>
                <c:pt idx="147">
                  <c:v>5.1291</c:v>
                </c:pt>
                <c:pt idx="148">
                  <c:v>5.133</c:v>
                </c:pt>
                <c:pt idx="149">
                  <c:v>5.389</c:v>
                </c:pt>
                <c:pt idx="150">
                  <c:v>5.542</c:v>
                </c:pt>
                <c:pt idx="151">
                  <c:v>5.5526</c:v>
                </c:pt>
                <c:pt idx="152">
                  <c:v>5.5416</c:v>
                </c:pt>
                <c:pt idx="153">
                  <c:v>5.6241</c:v>
                </c:pt>
                <c:pt idx="154">
                  <c:v>5.8071</c:v>
                </c:pt>
                <c:pt idx="155">
                  <c:v>6.097</c:v>
                </c:pt>
                <c:pt idx="156">
                  <c:v>6.0218</c:v>
                </c:pt>
                <c:pt idx="157">
                  <c:v>5.7656</c:v>
                </c:pt>
                <c:pt idx="158">
                  <c:v>5.7468</c:v>
                </c:pt>
                <c:pt idx="159">
                  <c:v>5.7837</c:v>
                </c:pt>
                <c:pt idx="160">
                  <c:v>5.6674</c:v>
                </c:pt>
                <c:pt idx="161">
                  <c:v>5.5471</c:v>
                </c:pt>
                <c:pt idx="162">
                  <c:v>5.5285</c:v>
                </c:pt>
                <c:pt idx="163">
                  <c:v>5.4469</c:v>
                </c:pt>
                <c:pt idx="164">
                  <c:v>5.3674</c:v>
                </c:pt>
                <c:pt idx="165">
                  <c:v>5.3855</c:v>
                </c:pt>
                <c:pt idx="166">
                  <c:v>5.3409</c:v>
                </c:pt>
                <c:pt idx="167">
                  <c:v>5.4531</c:v>
                </c:pt>
                <c:pt idx="168">
                  <c:v>5.338</c:v>
                </c:pt>
                <c:pt idx="169">
                  <c:v>5.2006</c:v>
                </c:pt>
                <c:pt idx="170">
                  <c:v>5.2316</c:v>
                </c:pt>
                <c:pt idx="171">
                  <c:v>5.0331</c:v>
                </c:pt>
                <c:pt idx="172">
                  <c:v>4.9837</c:v>
                </c:pt>
                <c:pt idx="173">
                  <c:v>5.1276</c:v>
                </c:pt>
                <c:pt idx="174">
                  <c:v>5.1139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26.6"/>
          <c:min val="2012.0"/>
        </c:scaling>
        <c:delete val="0"/>
        <c:axPos val="b"/>
        <c:numFmt formatCode="0" sourceLinked="0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rgbClr val="0F2A4A"/>
                </a:solidFill>
              </a:defRPr>
            </a:pPr>
            <a:r>
              <a:t>Selic (% ao ano)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 (% ao ano)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none"/>
          </c:marker>
          <c:xVal>
            <c:numRef>
              <c:f>Sheet1!$A$2:$A$176</c:f>
              <c:numCache>
                <c:formatCode>General</c:formatCode>
                <c:ptCount val="175"/>
                <c:pt idx="0">
                  <c:v>2012.0</c:v>
                </c:pt>
                <c:pt idx="1">
                  <c:v>2012.0833333333333</c:v>
                </c:pt>
                <c:pt idx="2">
                  <c:v>2012.1666666666667</c:v>
                </c:pt>
                <c:pt idx="3">
                  <c:v>2012.25</c:v>
                </c:pt>
                <c:pt idx="4">
                  <c:v>2012.3333333333333</c:v>
                </c:pt>
                <c:pt idx="5">
                  <c:v>2012.4166666666667</c:v>
                </c:pt>
                <c:pt idx="6">
                  <c:v>2012.5</c:v>
                </c:pt>
                <c:pt idx="7">
                  <c:v>2012.5833333333333</c:v>
                </c:pt>
                <c:pt idx="8">
                  <c:v>2012.6666666666667</c:v>
                </c:pt>
                <c:pt idx="9">
                  <c:v>2012.75</c:v>
                </c:pt>
                <c:pt idx="10">
                  <c:v>2012.8333333333333</c:v>
                </c:pt>
                <c:pt idx="11">
                  <c:v>2012.9166666666667</c:v>
                </c:pt>
                <c:pt idx="12">
                  <c:v>2013.0</c:v>
                </c:pt>
                <c:pt idx="13">
                  <c:v>2013.0833333333333</c:v>
                </c:pt>
                <c:pt idx="14">
                  <c:v>2013.1666666666667</c:v>
                </c:pt>
                <c:pt idx="15">
                  <c:v>2013.25</c:v>
                </c:pt>
                <c:pt idx="16">
                  <c:v>2013.3333333333333</c:v>
                </c:pt>
                <c:pt idx="17">
                  <c:v>2013.4166666666667</c:v>
                </c:pt>
                <c:pt idx="18">
                  <c:v>2013.5</c:v>
                </c:pt>
                <c:pt idx="19">
                  <c:v>2013.5833333333333</c:v>
                </c:pt>
                <c:pt idx="20">
                  <c:v>2013.6666666666667</c:v>
                </c:pt>
                <c:pt idx="21">
                  <c:v>2013.75</c:v>
                </c:pt>
                <c:pt idx="22">
                  <c:v>2013.8333333333333</c:v>
                </c:pt>
                <c:pt idx="23">
                  <c:v>2013.9166666666667</c:v>
                </c:pt>
                <c:pt idx="24">
                  <c:v>2014.0</c:v>
                </c:pt>
                <c:pt idx="25">
                  <c:v>2014.0833333333333</c:v>
                </c:pt>
                <c:pt idx="26">
                  <c:v>2014.1666666666667</c:v>
                </c:pt>
                <c:pt idx="27">
                  <c:v>2014.25</c:v>
                </c:pt>
                <c:pt idx="28">
                  <c:v>2014.3333333333333</c:v>
                </c:pt>
                <c:pt idx="29">
                  <c:v>2014.4166666666667</c:v>
                </c:pt>
                <c:pt idx="30">
                  <c:v>2014.5</c:v>
                </c:pt>
                <c:pt idx="31">
                  <c:v>2014.5833333333333</c:v>
                </c:pt>
                <c:pt idx="32">
                  <c:v>2014.6666666666667</c:v>
                </c:pt>
                <c:pt idx="33">
                  <c:v>2014.75</c:v>
                </c:pt>
                <c:pt idx="34">
                  <c:v>2014.8333333333333</c:v>
                </c:pt>
                <c:pt idx="35">
                  <c:v>2014.9166666666667</c:v>
                </c:pt>
                <c:pt idx="36">
                  <c:v>2015.0</c:v>
                </c:pt>
                <c:pt idx="37">
                  <c:v>2015.0833333333333</c:v>
                </c:pt>
                <c:pt idx="38">
                  <c:v>2015.1666666666667</c:v>
                </c:pt>
                <c:pt idx="39">
                  <c:v>2015.25</c:v>
                </c:pt>
                <c:pt idx="40">
                  <c:v>2015.3333333333333</c:v>
                </c:pt>
                <c:pt idx="41">
                  <c:v>2015.4166666666667</c:v>
                </c:pt>
                <c:pt idx="42">
                  <c:v>2015.5</c:v>
                </c:pt>
                <c:pt idx="43">
                  <c:v>2015.5833333333333</c:v>
                </c:pt>
                <c:pt idx="44">
                  <c:v>2015.6666666666667</c:v>
                </c:pt>
                <c:pt idx="45">
                  <c:v>2015.75</c:v>
                </c:pt>
                <c:pt idx="46">
                  <c:v>2015.8333333333333</c:v>
                </c:pt>
                <c:pt idx="47">
                  <c:v>2015.9166666666667</c:v>
                </c:pt>
                <c:pt idx="48">
                  <c:v>2016.0</c:v>
                </c:pt>
                <c:pt idx="49">
                  <c:v>2016.0833333333333</c:v>
                </c:pt>
                <c:pt idx="50">
                  <c:v>2016.1666666666667</c:v>
                </c:pt>
                <c:pt idx="51">
                  <c:v>2016.25</c:v>
                </c:pt>
                <c:pt idx="52">
                  <c:v>2016.3333333333333</c:v>
                </c:pt>
                <c:pt idx="53">
                  <c:v>2016.4166666666667</c:v>
                </c:pt>
                <c:pt idx="54">
                  <c:v>2016.5</c:v>
                </c:pt>
                <c:pt idx="55">
                  <c:v>2016.5833333333333</c:v>
                </c:pt>
                <c:pt idx="56">
                  <c:v>2016.6666666666667</c:v>
                </c:pt>
                <c:pt idx="57">
                  <c:v>2016.75</c:v>
                </c:pt>
                <c:pt idx="58">
                  <c:v>2016.8333333333333</c:v>
                </c:pt>
                <c:pt idx="59">
                  <c:v>2016.9166666666667</c:v>
                </c:pt>
                <c:pt idx="60">
                  <c:v>2017.0</c:v>
                </c:pt>
                <c:pt idx="61">
                  <c:v>2017.0833333333333</c:v>
                </c:pt>
                <c:pt idx="62">
                  <c:v>2017.1666666666667</c:v>
                </c:pt>
                <c:pt idx="63">
                  <c:v>2017.25</c:v>
                </c:pt>
                <c:pt idx="64">
                  <c:v>2017.3333333333333</c:v>
                </c:pt>
                <c:pt idx="65">
                  <c:v>2017.4166666666667</c:v>
                </c:pt>
                <c:pt idx="66">
                  <c:v>2017.5</c:v>
                </c:pt>
                <c:pt idx="67">
                  <c:v>2017.5833333333333</c:v>
                </c:pt>
                <c:pt idx="68">
                  <c:v>2017.6666666666667</c:v>
                </c:pt>
                <c:pt idx="69">
                  <c:v>2017.75</c:v>
                </c:pt>
                <c:pt idx="70">
                  <c:v>2017.8333333333333</c:v>
                </c:pt>
                <c:pt idx="71">
                  <c:v>2017.9166666666667</c:v>
                </c:pt>
                <c:pt idx="72">
                  <c:v>2018.0</c:v>
                </c:pt>
                <c:pt idx="73">
                  <c:v>2018.0833333333333</c:v>
                </c:pt>
                <c:pt idx="74">
                  <c:v>2018.1666666666667</c:v>
                </c:pt>
                <c:pt idx="75">
                  <c:v>2018.25</c:v>
                </c:pt>
                <c:pt idx="76">
                  <c:v>2018.3333333333333</c:v>
                </c:pt>
                <c:pt idx="77">
                  <c:v>2018.4166666666667</c:v>
                </c:pt>
                <c:pt idx="78">
                  <c:v>2018.5</c:v>
                </c:pt>
                <c:pt idx="79">
                  <c:v>2018.5833333333333</c:v>
                </c:pt>
                <c:pt idx="80">
                  <c:v>2018.6666666666667</c:v>
                </c:pt>
                <c:pt idx="81">
                  <c:v>2018.75</c:v>
                </c:pt>
                <c:pt idx="82">
                  <c:v>2018.8333333333333</c:v>
                </c:pt>
                <c:pt idx="83">
                  <c:v>2018.9166666666667</c:v>
                </c:pt>
                <c:pt idx="84">
                  <c:v>2019.0</c:v>
                </c:pt>
                <c:pt idx="85">
                  <c:v>2019.0833333333333</c:v>
                </c:pt>
                <c:pt idx="86">
                  <c:v>2019.1666666666667</c:v>
                </c:pt>
                <c:pt idx="87">
                  <c:v>2019.25</c:v>
                </c:pt>
                <c:pt idx="88">
                  <c:v>2019.3333333333333</c:v>
                </c:pt>
                <c:pt idx="89">
                  <c:v>2019.4166666666667</c:v>
                </c:pt>
                <c:pt idx="90">
                  <c:v>2019.5</c:v>
                </c:pt>
                <c:pt idx="91">
                  <c:v>2019.5833333333333</c:v>
                </c:pt>
                <c:pt idx="92">
                  <c:v>2019.6666666666667</c:v>
                </c:pt>
                <c:pt idx="93">
                  <c:v>2019.75</c:v>
                </c:pt>
                <c:pt idx="94">
                  <c:v>2019.8333333333333</c:v>
                </c:pt>
                <c:pt idx="95">
                  <c:v>2019.9166666666667</c:v>
                </c:pt>
                <c:pt idx="96">
                  <c:v>2020.0</c:v>
                </c:pt>
                <c:pt idx="97">
                  <c:v>2020.0833333333333</c:v>
                </c:pt>
                <c:pt idx="98">
                  <c:v>2020.1666666666667</c:v>
                </c:pt>
                <c:pt idx="99">
                  <c:v>2020.25</c:v>
                </c:pt>
                <c:pt idx="100">
                  <c:v>2020.3333333333333</c:v>
                </c:pt>
                <c:pt idx="101">
                  <c:v>2020.4166666666667</c:v>
                </c:pt>
                <c:pt idx="102">
                  <c:v>2020.5</c:v>
                </c:pt>
                <c:pt idx="103">
                  <c:v>2020.5833333333333</c:v>
                </c:pt>
                <c:pt idx="104">
                  <c:v>2020.6666666666667</c:v>
                </c:pt>
                <c:pt idx="105">
                  <c:v>2020.75</c:v>
                </c:pt>
                <c:pt idx="106">
                  <c:v>2020.8333333333333</c:v>
                </c:pt>
                <c:pt idx="107">
                  <c:v>2020.9166666666667</c:v>
                </c:pt>
                <c:pt idx="108">
                  <c:v>2021.0</c:v>
                </c:pt>
                <c:pt idx="109">
                  <c:v>2021.0833333333333</c:v>
                </c:pt>
                <c:pt idx="110">
                  <c:v>2021.1666666666667</c:v>
                </c:pt>
                <c:pt idx="111">
                  <c:v>2021.25</c:v>
                </c:pt>
                <c:pt idx="112">
                  <c:v>2021.3333333333333</c:v>
                </c:pt>
                <c:pt idx="113">
                  <c:v>2021.4166666666667</c:v>
                </c:pt>
                <c:pt idx="114">
                  <c:v>2021.5</c:v>
                </c:pt>
                <c:pt idx="115">
                  <c:v>2021.5833333333333</c:v>
                </c:pt>
                <c:pt idx="116">
                  <c:v>2021.6666666666667</c:v>
                </c:pt>
                <c:pt idx="117">
                  <c:v>2021.75</c:v>
                </c:pt>
                <c:pt idx="118">
                  <c:v>2021.8333333333333</c:v>
                </c:pt>
                <c:pt idx="119">
                  <c:v>2021.9166666666667</c:v>
                </c:pt>
                <c:pt idx="120">
                  <c:v>2022.0</c:v>
                </c:pt>
                <c:pt idx="121">
                  <c:v>2022.0833333333333</c:v>
                </c:pt>
                <c:pt idx="122">
                  <c:v>2022.1666666666667</c:v>
                </c:pt>
                <c:pt idx="123">
                  <c:v>2022.25</c:v>
                </c:pt>
                <c:pt idx="124">
                  <c:v>2022.3333333333333</c:v>
                </c:pt>
                <c:pt idx="125">
                  <c:v>2022.4166666666667</c:v>
                </c:pt>
                <c:pt idx="126">
                  <c:v>2022.5</c:v>
                </c:pt>
                <c:pt idx="127">
                  <c:v>2022.5833333333333</c:v>
                </c:pt>
                <c:pt idx="128">
                  <c:v>2022.6666666666667</c:v>
                </c:pt>
                <c:pt idx="129">
                  <c:v>2022.75</c:v>
                </c:pt>
                <c:pt idx="130">
                  <c:v>2022.8333333333333</c:v>
                </c:pt>
                <c:pt idx="131">
                  <c:v>2022.9166666666667</c:v>
                </c:pt>
                <c:pt idx="132">
                  <c:v>2023.0</c:v>
                </c:pt>
                <c:pt idx="133">
                  <c:v>2023.0833333333333</c:v>
                </c:pt>
                <c:pt idx="134">
                  <c:v>2023.1666666666667</c:v>
                </c:pt>
                <c:pt idx="135">
                  <c:v>2023.25</c:v>
                </c:pt>
                <c:pt idx="136">
                  <c:v>2023.3333333333333</c:v>
                </c:pt>
                <c:pt idx="137">
                  <c:v>2023.4166666666667</c:v>
                </c:pt>
                <c:pt idx="138">
                  <c:v>2023.5</c:v>
                </c:pt>
                <c:pt idx="139">
                  <c:v>2023.5833333333333</c:v>
                </c:pt>
                <c:pt idx="140">
                  <c:v>2023.6666666666667</c:v>
                </c:pt>
                <c:pt idx="141">
                  <c:v>2023.75</c:v>
                </c:pt>
                <c:pt idx="142">
                  <c:v>2023.8333333333333</c:v>
                </c:pt>
                <c:pt idx="143">
                  <c:v>2023.9166666666667</c:v>
                </c:pt>
                <c:pt idx="144">
                  <c:v>2024.0</c:v>
                </c:pt>
                <c:pt idx="145">
                  <c:v>2024.0833333333333</c:v>
                </c:pt>
                <c:pt idx="146">
                  <c:v>2024.1666666666667</c:v>
                </c:pt>
                <c:pt idx="147">
                  <c:v>2024.25</c:v>
                </c:pt>
                <c:pt idx="148">
                  <c:v>2024.3333333333333</c:v>
                </c:pt>
                <c:pt idx="149">
                  <c:v>2024.4166666666667</c:v>
                </c:pt>
                <c:pt idx="150">
                  <c:v>2024.5</c:v>
                </c:pt>
                <c:pt idx="151">
                  <c:v>2024.5833333333333</c:v>
                </c:pt>
                <c:pt idx="152">
                  <c:v>2024.6666666666667</c:v>
                </c:pt>
                <c:pt idx="153">
                  <c:v>2024.75</c:v>
                </c:pt>
                <c:pt idx="154">
                  <c:v>2024.8333333333333</c:v>
                </c:pt>
                <c:pt idx="155">
                  <c:v>2024.9166666666667</c:v>
                </c:pt>
                <c:pt idx="156">
                  <c:v>2025.0</c:v>
                </c:pt>
                <c:pt idx="157">
                  <c:v>2025.0833333333333</c:v>
                </c:pt>
                <c:pt idx="158">
                  <c:v>2025.1666666666667</c:v>
                </c:pt>
                <c:pt idx="159">
                  <c:v>2025.25</c:v>
                </c:pt>
                <c:pt idx="160">
                  <c:v>2025.3333333333333</c:v>
                </c:pt>
                <c:pt idx="161">
                  <c:v>2025.4166666666667</c:v>
                </c:pt>
                <c:pt idx="162">
                  <c:v>2025.5</c:v>
                </c:pt>
                <c:pt idx="163">
                  <c:v>2025.5833333333333</c:v>
                </c:pt>
                <c:pt idx="164">
                  <c:v>2025.6666666666667</c:v>
                </c:pt>
                <c:pt idx="165">
                  <c:v>2025.75</c:v>
                </c:pt>
                <c:pt idx="166">
                  <c:v>2025.8333333333333</c:v>
                </c:pt>
                <c:pt idx="167">
                  <c:v>2025.9166666666667</c:v>
                </c:pt>
                <c:pt idx="168">
                  <c:v>2026.0</c:v>
                </c:pt>
                <c:pt idx="169">
                  <c:v>2026.0833333333333</c:v>
                </c:pt>
                <c:pt idx="170">
                  <c:v>2026.1666666666667</c:v>
                </c:pt>
                <c:pt idx="171">
                  <c:v>2026.25</c:v>
                </c:pt>
                <c:pt idx="172">
                  <c:v>2026.3333333333333</c:v>
                </c:pt>
                <c:pt idx="173">
                  <c:v>2026.4166666666667</c:v>
                </c:pt>
                <c:pt idx="174">
                  <c:v>2026.5</c:v>
                </c:pt>
              </c:numCache>
            </c:numRef>
          </c:xVal>
          <c:yVal>
            <c:numRef>
              <c:f>Sheet1!$B$2:$B$176</c:f>
              <c:numCache>
                <c:formatCode>General</c:formatCode>
                <c:ptCount val="175"/>
                <c:pt idx="0">
                  <c:v>10.7</c:v>
                </c:pt>
                <c:pt idx="1">
                  <c:v>10.4</c:v>
                </c:pt>
                <c:pt idx="2">
                  <c:v>9.82</c:v>
                </c:pt>
                <c:pt idx="3">
                  <c:v>9.35</c:v>
                </c:pt>
                <c:pt idx="4">
                  <c:v>8.87</c:v>
                </c:pt>
                <c:pt idx="5">
                  <c:v>8.39</c:v>
                </c:pt>
                <c:pt idx="6">
                  <c:v>8.07</c:v>
                </c:pt>
                <c:pt idx="7">
                  <c:v>7.85</c:v>
                </c:pt>
                <c:pt idx="8">
                  <c:v>7.39</c:v>
                </c:pt>
                <c:pt idx="9">
                  <c:v>7.23</c:v>
                </c:pt>
                <c:pt idx="10">
                  <c:v>7.14</c:v>
                </c:pt>
                <c:pt idx="11">
                  <c:v>7.16</c:v>
                </c:pt>
                <c:pt idx="12">
                  <c:v>7.11</c:v>
                </c:pt>
                <c:pt idx="13">
                  <c:v>7.12</c:v>
                </c:pt>
                <c:pt idx="14">
                  <c:v>7.15</c:v>
                </c:pt>
                <c:pt idx="15">
                  <c:v>7.26</c:v>
                </c:pt>
                <c:pt idx="16">
                  <c:v>7.42</c:v>
                </c:pt>
                <c:pt idx="17">
                  <c:v>7.9</c:v>
                </c:pt>
                <c:pt idx="18">
                  <c:v>8.23</c:v>
                </c:pt>
                <c:pt idx="19">
                  <c:v>8.45</c:v>
                </c:pt>
                <c:pt idx="20">
                  <c:v>8.9</c:v>
                </c:pt>
                <c:pt idx="21">
                  <c:v>9.25</c:v>
                </c:pt>
                <c:pt idx="22">
                  <c:v>9.45</c:v>
                </c:pt>
                <c:pt idx="23">
                  <c:v>9.9</c:v>
                </c:pt>
                <c:pt idx="24">
                  <c:v>10.17</c:v>
                </c:pt>
                <c:pt idx="25">
                  <c:v>10.43</c:v>
                </c:pt>
                <c:pt idx="26">
                  <c:v>10.65</c:v>
                </c:pt>
                <c:pt idx="27">
                  <c:v>10.87</c:v>
                </c:pt>
                <c:pt idx="28">
                  <c:v>10.9</c:v>
                </c:pt>
                <c:pt idx="29">
                  <c:v>10.9</c:v>
                </c:pt>
                <c:pt idx="30">
                  <c:v>10.9</c:v>
                </c:pt>
                <c:pt idx="31">
                  <c:v>10.9</c:v>
                </c:pt>
                <c:pt idx="32">
                  <c:v>10.9</c:v>
                </c:pt>
                <c:pt idx="33">
                  <c:v>10.92</c:v>
                </c:pt>
                <c:pt idx="34">
                  <c:v>11.15</c:v>
                </c:pt>
                <c:pt idx="35">
                  <c:v>11.58</c:v>
                </c:pt>
                <c:pt idx="36">
                  <c:v>11.82</c:v>
                </c:pt>
                <c:pt idx="37">
                  <c:v>12.15</c:v>
                </c:pt>
                <c:pt idx="38">
                  <c:v>12.58</c:v>
                </c:pt>
                <c:pt idx="39">
                  <c:v>12.68</c:v>
                </c:pt>
                <c:pt idx="40">
                  <c:v>13.15</c:v>
                </c:pt>
                <c:pt idx="41">
                  <c:v>13.58</c:v>
                </c:pt>
                <c:pt idx="42">
                  <c:v>13.69</c:v>
                </c:pt>
                <c:pt idx="43">
                  <c:v>14.15</c:v>
                </c:pt>
                <c:pt idx="44">
                  <c:v>14.15</c:v>
                </c:pt>
                <c:pt idx="45">
                  <c:v>14.15</c:v>
                </c:pt>
                <c:pt idx="46">
                  <c:v>14.15</c:v>
                </c:pt>
                <c:pt idx="47">
                  <c:v>14.15</c:v>
                </c:pt>
                <c:pt idx="48">
                  <c:v>14.15</c:v>
                </c:pt>
                <c:pt idx="49">
                  <c:v>14.15</c:v>
                </c:pt>
                <c:pt idx="50">
                  <c:v>14.15</c:v>
                </c:pt>
                <c:pt idx="51">
                  <c:v>14.15</c:v>
                </c:pt>
                <c:pt idx="52">
                  <c:v>14.15</c:v>
                </c:pt>
                <c:pt idx="53">
                  <c:v>14.15</c:v>
                </c:pt>
                <c:pt idx="54">
                  <c:v>14.15</c:v>
                </c:pt>
                <c:pt idx="55">
                  <c:v>14.15</c:v>
                </c:pt>
                <c:pt idx="56">
                  <c:v>14.15</c:v>
                </c:pt>
                <c:pt idx="57">
                  <c:v>14.05</c:v>
                </c:pt>
                <c:pt idx="58">
                  <c:v>13.9</c:v>
                </c:pt>
                <c:pt idx="59">
                  <c:v>13.65</c:v>
                </c:pt>
                <c:pt idx="60">
                  <c:v>13.17</c:v>
                </c:pt>
                <c:pt idx="61">
                  <c:v>12.82</c:v>
                </c:pt>
                <c:pt idx="62">
                  <c:v>12.15</c:v>
                </c:pt>
                <c:pt idx="63">
                  <c:v>11.59</c:v>
                </c:pt>
                <c:pt idx="64">
                  <c:v>11.15</c:v>
                </c:pt>
                <c:pt idx="65">
                  <c:v>10.15</c:v>
                </c:pt>
                <c:pt idx="66">
                  <c:v>10.01</c:v>
                </c:pt>
                <c:pt idx="67">
                  <c:v>9.15</c:v>
                </c:pt>
                <c:pt idx="68">
                  <c:v>8.35</c:v>
                </c:pt>
                <c:pt idx="69">
                  <c:v>8.01</c:v>
                </c:pt>
                <c:pt idx="70">
                  <c:v>7.4</c:v>
                </c:pt>
                <c:pt idx="71">
                  <c:v>7.0</c:v>
                </c:pt>
                <c:pt idx="72">
                  <c:v>6.9</c:v>
                </c:pt>
                <c:pt idx="73">
                  <c:v>6.72</c:v>
                </c:pt>
                <c:pt idx="74">
                  <c:v>6.58</c:v>
                </c:pt>
                <c:pt idx="75">
                  <c:v>6.4</c:v>
                </c:pt>
                <c:pt idx="76">
                  <c:v>6.4</c:v>
                </c:pt>
                <c:pt idx="77">
                  <c:v>6.4</c:v>
                </c:pt>
                <c:pt idx="78">
                  <c:v>6.4</c:v>
                </c:pt>
                <c:pt idx="79">
                  <c:v>6.4</c:v>
                </c:pt>
                <c:pt idx="80">
                  <c:v>6.4</c:v>
                </c:pt>
                <c:pt idx="81">
                  <c:v>6.4</c:v>
                </c:pt>
                <c:pt idx="82">
                  <c:v>6.4</c:v>
                </c:pt>
                <c:pt idx="83">
                  <c:v>6.4</c:v>
                </c:pt>
                <c:pt idx="84">
                  <c:v>6.4</c:v>
                </c:pt>
                <c:pt idx="85">
                  <c:v>6.4</c:v>
                </c:pt>
                <c:pt idx="86">
                  <c:v>6.4</c:v>
                </c:pt>
                <c:pt idx="87">
                  <c:v>6.4</c:v>
                </c:pt>
                <c:pt idx="88">
                  <c:v>6.4</c:v>
                </c:pt>
                <c:pt idx="89">
                  <c:v>6.4</c:v>
                </c:pt>
                <c:pt idx="90">
                  <c:v>6.4</c:v>
                </c:pt>
                <c:pt idx="91">
                  <c:v>5.9</c:v>
                </c:pt>
                <c:pt idx="92">
                  <c:v>5.71</c:v>
                </c:pt>
                <c:pt idx="93">
                  <c:v>5.38</c:v>
                </c:pt>
                <c:pt idx="94">
                  <c:v>4.9</c:v>
                </c:pt>
                <c:pt idx="95">
                  <c:v>4.59</c:v>
                </c:pt>
                <c:pt idx="96">
                  <c:v>4.4</c:v>
                </c:pt>
                <c:pt idx="97">
                  <c:v>4.19</c:v>
                </c:pt>
                <c:pt idx="98">
                  <c:v>3.95</c:v>
                </c:pt>
                <c:pt idx="99">
                  <c:v>3.65</c:v>
                </c:pt>
                <c:pt idx="100">
                  <c:v>3.01</c:v>
                </c:pt>
                <c:pt idx="101">
                  <c:v>2.58</c:v>
                </c:pt>
                <c:pt idx="102">
                  <c:v>2.15</c:v>
                </c:pt>
                <c:pt idx="103">
                  <c:v>1.94</c:v>
                </c:pt>
                <c:pt idx="104">
                  <c:v>1.9</c:v>
                </c:pt>
                <c:pt idx="105">
                  <c:v>1.9</c:v>
                </c:pt>
                <c:pt idx="106">
                  <c:v>1.9</c:v>
                </c:pt>
                <c:pt idx="107">
                  <c:v>1.9</c:v>
                </c:pt>
                <c:pt idx="108">
                  <c:v>1.9</c:v>
                </c:pt>
                <c:pt idx="109">
                  <c:v>1.9</c:v>
                </c:pt>
                <c:pt idx="110">
                  <c:v>2.23</c:v>
                </c:pt>
                <c:pt idx="111">
                  <c:v>2.65</c:v>
                </c:pt>
                <c:pt idx="112">
                  <c:v>3.29</c:v>
                </c:pt>
                <c:pt idx="113">
                  <c:v>3.76</c:v>
                </c:pt>
                <c:pt idx="114">
                  <c:v>4.15</c:v>
                </c:pt>
                <c:pt idx="115">
                  <c:v>5.01</c:v>
                </c:pt>
                <c:pt idx="116">
                  <c:v>5.43</c:v>
                </c:pt>
                <c:pt idx="117">
                  <c:v>6.3</c:v>
                </c:pt>
                <c:pt idx="118">
                  <c:v>7.65</c:v>
                </c:pt>
                <c:pt idx="119">
                  <c:v>8.76</c:v>
                </c:pt>
                <c:pt idx="120">
                  <c:v>9.15</c:v>
                </c:pt>
                <c:pt idx="121">
                  <c:v>10.49</c:v>
                </c:pt>
                <c:pt idx="122">
                  <c:v>11.15</c:v>
                </c:pt>
                <c:pt idx="123">
                  <c:v>11.65</c:v>
                </c:pt>
                <c:pt idx="124">
                  <c:v>12.51</c:v>
                </c:pt>
                <c:pt idx="125">
                  <c:v>12.89</c:v>
                </c:pt>
                <c:pt idx="126">
                  <c:v>13.15</c:v>
                </c:pt>
                <c:pt idx="127">
                  <c:v>13.58</c:v>
                </c:pt>
                <c:pt idx="128">
                  <c:v>13.65</c:v>
                </c:pt>
                <c:pt idx="129">
                  <c:v>13.65</c:v>
                </c:pt>
                <c:pt idx="130">
                  <c:v>13.65</c:v>
                </c:pt>
                <c:pt idx="131">
                  <c:v>13.65</c:v>
                </c:pt>
                <c:pt idx="132">
                  <c:v>13.65</c:v>
                </c:pt>
                <c:pt idx="133">
                  <c:v>13.65</c:v>
                </c:pt>
                <c:pt idx="134">
                  <c:v>13.65</c:v>
                </c:pt>
                <c:pt idx="135">
                  <c:v>13.65</c:v>
                </c:pt>
                <c:pt idx="136">
                  <c:v>13.65</c:v>
                </c:pt>
                <c:pt idx="137">
                  <c:v>13.65</c:v>
                </c:pt>
                <c:pt idx="138">
                  <c:v>13.65</c:v>
                </c:pt>
                <c:pt idx="139">
                  <c:v>13.19</c:v>
                </c:pt>
                <c:pt idx="140">
                  <c:v>12.97</c:v>
                </c:pt>
                <c:pt idx="141">
                  <c:v>12.65</c:v>
                </c:pt>
                <c:pt idx="142">
                  <c:v>12.17</c:v>
                </c:pt>
                <c:pt idx="143">
                  <c:v>11.87</c:v>
                </c:pt>
                <c:pt idx="144">
                  <c:v>11.65</c:v>
                </c:pt>
                <c:pt idx="145">
                  <c:v>11.15</c:v>
                </c:pt>
                <c:pt idx="146">
                  <c:v>11.0</c:v>
                </c:pt>
                <c:pt idx="147">
                  <c:v>10.65</c:v>
                </c:pt>
                <c:pt idx="148">
                  <c:v>10.46</c:v>
                </c:pt>
                <c:pt idx="149">
                  <c:v>10.4</c:v>
                </c:pt>
                <c:pt idx="150">
                  <c:v>10.4</c:v>
                </c:pt>
                <c:pt idx="151">
                  <c:v>10.4</c:v>
                </c:pt>
                <c:pt idx="152">
                  <c:v>10.5</c:v>
                </c:pt>
                <c:pt idx="153">
                  <c:v>10.65</c:v>
                </c:pt>
                <c:pt idx="154">
                  <c:v>11.04</c:v>
                </c:pt>
                <c:pt idx="155">
                  <c:v>11.77</c:v>
                </c:pt>
                <c:pt idx="156">
                  <c:v>12.24</c:v>
                </c:pt>
                <c:pt idx="157">
                  <c:v>13.15</c:v>
                </c:pt>
                <c:pt idx="158">
                  <c:v>13.57</c:v>
                </c:pt>
                <c:pt idx="159">
                  <c:v>14.15</c:v>
                </c:pt>
                <c:pt idx="160">
                  <c:v>14.55</c:v>
                </c:pt>
                <c:pt idx="161">
                  <c:v>14.74</c:v>
                </c:pt>
                <c:pt idx="162">
                  <c:v>14.9</c:v>
                </c:pt>
                <c:pt idx="163">
                  <c:v>14.9</c:v>
                </c:pt>
                <c:pt idx="164">
                  <c:v>14.9</c:v>
                </c:pt>
                <c:pt idx="165">
                  <c:v>14.9</c:v>
                </c:pt>
                <c:pt idx="166">
                  <c:v>14.9</c:v>
                </c:pt>
                <c:pt idx="167">
                  <c:v>14.9</c:v>
                </c:pt>
                <c:pt idx="168">
                  <c:v>14.9</c:v>
                </c:pt>
                <c:pt idx="169">
                  <c:v>14.9</c:v>
                </c:pt>
                <c:pt idx="170">
                  <c:v>14.8</c:v>
                </c:pt>
                <c:pt idx="171">
                  <c:v>14.64</c:v>
                </c:pt>
                <c:pt idx="172">
                  <c:v>14.4</c:v>
                </c:pt>
                <c:pt idx="173">
                  <c:v>14.29</c:v>
                </c:pt>
                <c:pt idx="174">
                  <c:v>14.15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26.6"/>
          <c:min val="2012.0"/>
        </c:scaling>
        <c:delete val="0"/>
        <c:axPos val="b"/>
        <c:numFmt formatCode="0" sourceLinked="0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rgbClr val="0F2A4A"/>
                </a:solidFill>
              </a:defRPr>
            </a:pPr>
            <a:r>
              <a:t>IPCA em 12 meses (%)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IPCA em 12 meses (%)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none"/>
          </c:marker>
          <c:xVal>
            <c:numRef>
              <c:f>Sheet1!$A$2:$A$164</c:f>
              <c:numCache>
                <c:formatCode>General</c:formatCode>
                <c:ptCount val="163"/>
                <c:pt idx="0">
                  <c:v>2013.0</c:v>
                </c:pt>
                <c:pt idx="1">
                  <c:v>2013.0833333333333</c:v>
                </c:pt>
                <c:pt idx="2">
                  <c:v>2013.1666666666667</c:v>
                </c:pt>
                <c:pt idx="3">
                  <c:v>2013.25</c:v>
                </c:pt>
                <c:pt idx="4">
                  <c:v>2013.3333333333333</c:v>
                </c:pt>
                <c:pt idx="5">
                  <c:v>2013.4166666666667</c:v>
                </c:pt>
                <c:pt idx="6">
                  <c:v>2013.5</c:v>
                </c:pt>
                <c:pt idx="7">
                  <c:v>2013.5833333333333</c:v>
                </c:pt>
                <c:pt idx="8">
                  <c:v>2013.6666666666667</c:v>
                </c:pt>
                <c:pt idx="9">
                  <c:v>2013.75</c:v>
                </c:pt>
                <c:pt idx="10">
                  <c:v>2013.8333333333333</c:v>
                </c:pt>
                <c:pt idx="11">
                  <c:v>2013.9166666666667</c:v>
                </c:pt>
                <c:pt idx="12">
                  <c:v>2014.0</c:v>
                </c:pt>
                <c:pt idx="13">
                  <c:v>2014.0833333333333</c:v>
                </c:pt>
                <c:pt idx="14">
                  <c:v>2014.1666666666667</c:v>
                </c:pt>
                <c:pt idx="15">
                  <c:v>2014.25</c:v>
                </c:pt>
                <c:pt idx="16">
                  <c:v>2014.3333333333333</c:v>
                </c:pt>
                <c:pt idx="17">
                  <c:v>2014.4166666666667</c:v>
                </c:pt>
                <c:pt idx="18">
                  <c:v>2014.5</c:v>
                </c:pt>
                <c:pt idx="19">
                  <c:v>2014.5833333333333</c:v>
                </c:pt>
                <c:pt idx="20">
                  <c:v>2014.6666666666667</c:v>
                </c:pt>
                <c:pt idx="21">
                  <c:v>2014.75</c:v>
                </c:pt>
                <c:pt idx="22">
                  <c:v>2014.8333333333333</c:v>
                </c:pt>
                <c:pt idx="23">
                  <c:v>2014.9166666666667</c:v>
                </c:pt>
                <c:pt idx="24">
                  <c:v>2015.0</c:v>
                </c:pt>
                <c:pt idx="25">
                  <c:v>2015.0833333333333</c:v>
                </c:pt>
                <c:pt idx="26">
                  <c:v>2015.1666666666667</c:v>
                </c:pt>
                <c:pt idx="27">
                  <c:v>2015.25</c:v>
                </c:pt>
                <c:pt idx="28">
                  <c:v>2015.3333333333333</c:v>
                </c:pt>
                <c:pt idx="29">
                  <c:v>2015.4166666666667</c:v>
                </c:pt>
                <c:pt idx="30">
                  <c:v>2015.5</c:v>
                </c:pt>
                <c:pt idx="31">
                  <c:v>2015.5833333333333</c:v>
                </c:pt>
                <c:pt idx="32">
                  <c:v>2015.6666666666667</c:v>
                </c:pt>
                <c:pt idx="33">
                  <c:v>2015.75</c:v>
                </c:pt>
                <c:pt idx="34">
                  <c:v>2015.8333333333333</c:v>
                </c:pt>
                <c:pt idx="35">
                  <c:v>2015.9166666666667</c:v>
                </c:pt>
                <c:pt idx="36">
                  <c:v>2016.0</c:v>
                </c:pt>
                <c:pt idx="37">
                  <c:v>2016.0833333333333</c:v>
                </c:pt>
                <c:pt idx="38">
                  <c:v>2016.1666666666667</c:v>
                </c:pt>
                <c:pt idx="39">
                  <c:v>2016.25</c:v>
                </c:pt>
                <c:pt idx="40">
                  <c:v>2016.3333333333333</c:v>
                </c:pt>
                <c:pt idx="41">
                  <c:v>2016.4166666666667</c:v>
                </c:pt>
                <c:pt idx="42">
                  <c:v>2016.5</c:v>
                </c:pt>
                <c:pt idx="43">
                  <c:v>2016.5833333333333</c:v>
                </c:pt>
                <c:pt idx="44">
                  <c:v>2016.6666666666667</c:v>
                </c:pt>
                <c:pt idx="45">
                  <c:v>2016.75</c:v>
                </c:pt>
                <c:pt idx="46">
                  <c:v>2016.8333333333333</c:v>
                </c:pt>
                <c:pt idx="47">
                  <c:v>2016.9166666666667</c:v>
                </c:pt>
                <c:pt idx="48">
                  <c:v>2017.0</c:v>
                </c:pt>
                <c:pt idx="49">
                  <c:v>2017.0833333333333</c:v>
                </c:pt>
                <c:pt idx="50">
                  <c:v>2017.1666666666667</c:v>
                </c:pt>
                <c:pt idx="51">
                  <c:v>2017.25</c:v>
                </c:pt>
                <c:pt idx="52">
                  <c:v>2017.3333333333333</c:v>
                </c:pt>
                <c:pt idx="53">
                  <c:v>2017.4166666666667</c:v>
                </c:pt>
                <c:pt idx="54">
                  <c:v>2017.5</c:v>
                </c:pt>
                <c:pt idx="55">
                  <c:v>2017.5833333333333</c:v>
                </c:pt>
                <c:pt idx="56">
                  <c:v>2017.6666666666667</c:v>
                </c:pt>
                <c:pt idx="57">
                  <c:v>2017.75</c:v>
                </c:pt>
                <c:pt idx="58">
                  <c:v>2017.8333333333333</c:v>
                </c:pt>
                <c:pt idx="59">
                  <c:v>2017.9166666666667</c:v>
                </c:pt>
                <c:pt idx="60">
                  <c:v>2018.0</c:v>
                </c:pt>
                <c:pt idx="61">
                  <c:v>2018.0833333333333</c:v>
                </c:pt>
                <c:pt idx="62">
                  <c:v>2018.1666666666667</c:v>
                </c:pt>
                <c:pt idx="63">
                  <c:v>2018.25</c:v>
                </c:pt>
                <c:pt idx="64">
                  <c:v>2018.3333333333333</c:v>
                </c:pt>
                <c:pt idx="65">
                  <c:v>2018.4166666666667</c:v>
                </c:pt>
                <c:pt idx="66">
                  <c:v>2018.5</c:v>
                </c:pt>
                <c:pt idx="67">
                  <c:v>2018.5833333333333</c:v>
                </c:pt>
                <c:pt idx="68">
                  <c:v>2018.6666666666667</c:v>
                </c:pt>
                <c:pt idx="69">
                  <c:v>2018.75</c:v>
                </c:pt>
                <c:pt idx="70">
                  <c:v>2018.8333333333333</c:v>
                </c:pt>
                <c:pt idx="71">
                  <c:v>2018.9166666666667</c:v>
                </c:pt>
                <c:pt idx="72">
                  <c:v>2019.0</c:v>
                </c:pt>
                <c:pt idx="73">
                  <c:v>2019.0833333333333</c:v>
                </c:pt>
                <c:pt idx="74">
                  <c:v>2019.1666666666667</c:v>
                </c:pt>
                <c:pt idx="75">
                  <c:v>2019.25</c:v>
                </c:pt>
                <c:pt idx="76">
                  <c:v>2019.3333333333333</c:v>
                </c:pt>
                <c:pt idx="77">
                  <c:v>2019.4166666666667</c:v>
                </c:pt>
                <c:pt idx="78">
                  <c:v>2019.5</c:v>
                </c:pt>
                <c:pt idx="79">
                  <c:v>2019.5833333333333</c:v>
                </c:pt>
                <c:pt idx="80">
                  <c:v>2019.6666666666667</c:v>
                </c:pt>
                <c:pt idx="81">
                  <c:v>2019.75</c:v>
                </c:pt>
                <c:pt idx="82">
                  <c:v>2019.8333333333333</c:v>
                </c:pt>
                <c:pt idx="83">
                  <c:v>2019.9166666666667</c:v>
                </c:pt>
                <c:pt idx="84">
                  <c:v>2020.0</c:v>
                </c:pt>
                <c:pt idx="85">
                  <c:v>2020.0833333333333</c:v>
                </c:pt>
                <c:pt idx="86">
                  <c:v>2020.1666666666667</c:v>
                </c:pt>
                <c:pt idx="87">
                  <c:v>2020.25</c:v>
                </c:pt>
                <c:pt idx="88">
                  <c:v>2020.3333333333333</c:v>
                </c:pt>
                <c:pt idx="89">
                  <c:v>2020.4166666666667</c:v>
                </c:pt>
                <c:pt idx="90">
                  <c:v>2020.5</c:v>
                </c:pt>
                <c:pt idx="91">
                  <c:v>2020.5833333333333</c:v>
                </c:pt>
                <c:pt idx="92">
                  <c:v>2020.6666666666667</c:v>
                </c:pt>
                <c:pt idx="93">
                  <c:v>2020.75</c:v>
                </c:pt>
                <c:pt idx="94">
                  <c:v>2020.8333333333333</c:v>
                </c:pt>
                <c:pt idx="95">
                  <c:v>2020.9166666666667</c:v>
                </c:pt>
                <c:pt idx="96">
                  <c:v>2021.0</c:v>
                </c:pt>
                <c:pt idx="97">
                  <c:v>2021.0833333333333</c:v>
                </c:pt>
                <c:pt idx="98">
                  <c:v>2021.1666666666667</c:v>
                </c:pt>
                <c:pt idx="99">
                  <c:v>2021.25</c:v>
                </c:pt>
                <c:pt idx="100">
                  <c:v>2021.3333333333333</c:v>
                </c:pt>
                <c:pt idx="101">
                  <c:v>2021.4166666666667</c:v>
                </c:pt>
                <c:pt idx="102">
                  <c:v>2021.5</c:v>
                </c:pt>
                <c:pt idx="103">
                  <c:v>2021.5833333333333</c:v>
                </c:pt>
                <c:pt idx="104">
                  <c:v>2021.6666666666667</c:v>
                </c:pt>
                <c:pt idx="105">
                  <c:v>2021.75</c:v>
                </c:pt>
                <c:pt idx="106">
                  <c:v>2021.8333333333333</c:v>
                </c:pt>
                <c:pt idx="107">
                  <c:v>2021.9166666666667</c:v>
                </c:pt>
                <c:pt idx="108">
                  <c:v>2022.0</c:v>
                </c:pt>
                <c:pt idx="109">
                  <c:v>2022.0833333333333</c:v>
                </c:pt>
                <c:pt idx="110">
                  <c:v>2022.1666666666667</c:v>
                </c:pt>
                <c:pt idx="111">
                  <c:v>2022.25</c:v>
                </c:pt>
                <c:pt idx="112">
                  <c:v>2022.3333333333333</c:v>
                </c:pt>
                <c:pt idx="113">
                  <c:v>2022.4166666666667</c:v>
                </c:pt>
                <c:pt idx="114">
                  <c:v>2022.5</c:v>
                </c:pt>
                <c:pt idx="115">
                  <c:v>2022.5833333333333</c:v>
                </c:pt>
                <c:pt idx="116">
                  <c:v>2022.6666666666667</c:v>
                </c:pt>
                <c:pt idx="117">
                  <c:v>2022.75</c:v>
                </c:pt>
                <c:pt idx="118">
                  <c:v>2022.8333333333333</c:v>
                </c:pt>
                <c:pt idx="119">
                  <c:v>2022.9166666666667</c:v>
                </c:pt>
                <c:pt idx="120">
                  <c:v>2023.0</c:v>
                </c:pt>
                <c:pt idx="121">
                  <c:v>2023.0833333333333</c:v>
                </c:pt>
                <c:pt idx="122">
                  <c:v>2023.1666666666667</c:v>
                </c:pt>
                <c:pt idx="123">
                  <c:v>2023.25</c:v>
                </c:pt>
                <c:pt idx="124">
                  <c:v>2023.3333333333333</c:v>
                </c:pt>
                <c:pt idx="125">
                  <c:v>2023.4166666666667</c:v>
                </c:pt>
                <c:pt idx="126">
                  <c:v>2023.5</c:v>
                </c:pt>
                <c:pt idx="127">
                  <c:v>2023.5833333333333</c:v>
                </c:pt>
                <c:pt idx="128">
                  <c:v>2023.6666666666667</c:v>
                </c:pt>
                <c:pt idx="129">
                  <c:v>2023.75</c:v>
                </c:pt>
                <c:pt idx="130">
                  <c:v>2023.8333333333333</c:v>
                </c:pt>
                <c:pt idx="131">
                  <c:v>2023.9166666666667</c:v>
                </c:pt>
                <c:pt idx="132">
                  <c:v>2024.0</c:v>
                </c:pt>
                <c:pt idx="133">
                  <c:v>2024.0833333333333</c:v>
                </c:pt>
                <c:pt idx="134">
                  <c:v>2024.1666666666667</c:v>
                </c:pt>
                <c:pt idx="135">
                  <c:v>2024.25</c:v>
                </c:pt>
                <c:pt idx="136">
                  <c:v>2024.3333333333333</c:v>
                </c:pt>
                <c:pt idx="137">
                  <c:v>2024.4166666666667</c:v>
                </c:pt>
                <c:pt idx="138">
                  <c:v>2024.5</c:v>
                </c:pt>
                <c:pt idx="139">
                  <c:v>2024.5833333333333</c:v>
                </c:pt>
                <c:pt idx="140">
                  <c:v>2024.6666666666667</c:v>
                </c:pt>
                <c:pt idx="141">
                  <c:v>2024.75</c:v>
                </c:pt>
                <c:pt idx="142">
                  <c:v>2024.8333333333333</c:v>
                </c:pt>
                <c:pt idx="143">
                  <c:v>2024.9166666666667</c:v>
                </c:pt>
                <c:pt idx="144">
                  <c:v>2025.0</c:v>
                </c:pt>
                <c:pt idx="145">
                  <c:v>2025.0833333333333</c:v>
                </c:pt>
                <c:pt idx="146">
                  <c:v>2025.1666666666667</c:v>
                </c:pt>
                <c:pt idx="147">
                  <c:v>2025.25</c:v>
                </c:pt>
                <c:pt idx="148">
                  <c:v>2025.3333333333333</c:v>
                </c:pt>
                <c:pt idx="149">
                  <c:v>2025.4166666666667</c:v>
                </c:pt>
                <c:pt idx="150">
                  <c:v>2025.5</c:v>
                </c:pt>
                <c:pt idx="151">
                  <c:v>2025.5833333333333</c:v>
                </c:pt>
                <c:pt idx="152">
                  <c:v>2025.6666666666667</c:v>
                </c:pt>
                <c:pt idx="153">
                  <c:v>2025.75</c:v>
                </c:pt>
                <c:pt idx="154">
                  <c:v>2025.8333333333333</c:v>
                </c:pt>
                <c:pt idx="155">
                  <c:v>2025.9166666666667</c:v>
                </c:pt>
                <c:pt idx="156">
                  <c:v>2026.0</c:v>
                </c:pt>
                <c:pt idx="157">
                  <c:v>2026.0833333333333</c:v>
                </c:pt>
                <c:pt idx="158">
                  <c:v>2026.1666666666667</c:v>
                </c:pt>
                <c:pt idx="159">
                  <c:v>2026.25</c:v>
                </c:pt>
                <c:pt idx="160">
                  <c:v>2026.3333333333333</c:v>
                </c:pt>
                <c:pt idx="161">
                  <c:v>2026.4166666666667</c:v>
                </c:pt>
                <c:pt idx="162">
                  <c:v>2026.5</c:v>
                </c:pt>
              </c:numCache>
            </c:numRef>
          </c:xVal>
          <c:yVal>
            <c:numRef>
              <c:f>Sheet1!$B$2:$B$164</c:f>
              <c:numCache>
                <c:formatCode>General</c:formatCode>
                <c:ptCount val="163"/>
                <c:pt idx="0">
                  <c:v>6.154336082552536</c:v>
                </c:pt>
                <c:pt idx="1">
                  <c:v>6.312914644042356</c:v>
                </c:pt>
                <c:pt idx="2">
                  <c:v>6.588765923358908</c:v>
                </c:pt>
                <c:pt idx="3">
                  <c:v>6.493513984299737</c:v>
                </c:pt>
                <c:pt idx="4">
                  <c:v>6.504135128766597</c:v>
                </c:pt>
                <c:pt idx="5">
                  <c:v>6.695915835898392</c:v>
                </c:pt>
                <c:pt idx="6">
                  <c:v>6.2706921691397355</c:v>
                </c:pt>
                <c:pt idx="7">
                  <c:v>6.090762064213395</c:v>
                </c:pt>
                <c:pt idx="8">
                  <c:v>5.858620748231913</c:v>
                </c:pt>
                <c:pt idx="9">
                  <c:v>5.83748487151341</c:v>
                </c:pt>
                <c:pt idx="10">
                  <c:v>5.7744067237047725</c:v>
                </c:pt>
                <c:pt idx="11">
                  <c:v>5.910683255331084</c:v>
                </c:pt>
                <c:pt idx="12">
                  <c:v>5.585065392575617</c:v>
                </c:pt>
                <c:pt idx="13">
                  <c:v>5.679517624013752</c:v>
                </c:pt>
                <c:pt idx="14">
                  <c:v>6.152891009198291</c:v>
                </c:pt>
                <c:pt idx="15">
                  <c:v>6.279552187877435</c:v>
                </c:pt>
                <c:pt idx="16">
                  <c:v>6.374855650409583</c:v>
                </c:pt>
                <c:pt idx="17">
                  <c:v>6.523283601369245</c:v>
                </c:pt>
                <c:pt idx="18">
                  <c:v>6.502234310726562</c:v>
                </c:pt>
                <c:pt idx="19">
                  <c:v>6.512969846616312</c:v>
                </c:pt>
                <c:pt idx="20">
                  <c:v>6.746474315256257</c:v>
                </c:pt>
                <c:pt idx="21">
                  <c:v>6.587240379756931</c:v>
                </c:pt>
                <c:pt idx="22">
                  <c:v>6.555291341873404</c:v>
                </c:pt>
                <c:pt idx="23">
                  <c:v>6.4074707959081545</c:v>
                </c:pt>
                <c:pt idx="24">
                  <c:v>7.13773697531781</c:v>
                </c:pt>
                <c:pt idx="25">
                  <c:v>7.701587433080315</c:v>
                </c:pt>
                <c:pt idx="26">
                  <c:v>8.12850466091044</c:v>
                </c:pt>
                <c:pt idx="27">
                  <c:v>8.17148681360682</c:v>
                </c:pt>
                <c:pt idx="28">
                  <c:v>8.472942638647574</c:v>
                </c:pt>
                <c:pt idx="29">
                  <c:v>8.894429960185125</c:v>
                </c:pt>
                <c:pt idx="30">
                  <c:v>9.558392611753286</c:v>
                </c:pt>
                <c:pt idx="31">
                  <c:v>9.525477369967383</c:v>
                </c:pt>
                <c:pt idx="32">
                  <c:v>9.492789208366315</c:v>
                </c:pt>
                <c:pt idx="33">
                  <c:v>9.928892215568851</c:v>
                </c:pt>
                <c:pt idx="34">
                  <c:v>10.475767294535853</c:v>
                </c:pt>
                <c:pt idx="35">
                  <c:v>10.673028133975059</c:v>
                </c:pt>
                <c:pt idx="36">
                  <c:v>10.705805070312868</c:v>
                </c:pt>
                <c:pt idx="37">
                  <c:v>10.355884374834744</c:v>
                </c:pt>
                <c:pt idx="38">
                  <c:v>9.386372370862063</c:v>
                </c:pt>
                <c:pt idx="39">
                  <c:v>9.277794397895045</c:v>
                </c:pt>
                <c:pt idx="40">
                  <c:v>9.321189730159452</c:v>
                </c:pt>
                <c:pt idx="41">
                  <c:v>8.843747317528106</c:v>
                </c:pt>
                <c:pt idx="42">
                  <c:v>8.735771054919073</c:v>
                </c:pt>
                <c:pt idx="43">
                  <c:v>8.974497601601229</c:v>
                </c:pt>
                <c:pt idx="44">
                  <c:v>8.475968623287233</c:v>
                </c:pt>
                <c:pt idx="45">
                  <c:v>7.873670831489243</c:v>
                </c:pt>
                <c:pt idx="46">
                  <c:v>6.987383298318162</c:v>
                </c:pt>
                <c:pt idx="47">
                  <c:v>6.287988213221385</c:v>
                </c:pt>
                <c:pt idx="48">
                  <c:v>5.354015071765628</c:v>
                </c:pt>
                <c:pt idx="49">
                  <c:v>4.758907296163506</c:v>
                </c:pt>
                <c:pt idx="50">
                  <c:v>4.571105115681884</c:v>
                </c:pt>
                <c:pt idx="51">
                  <c:v>4.082516894622801</c:v>
                </c:pt>
                <c:pt idx="52">
                  <c:v>3.5972561777709355</c:v>
                </c:pt>
                <c:pt idx="53">
                  <c:v>2.9985569924055655</c:v>
                </c:pt>
                <c:pt idx="54">
                  <c:v>2.711625766806125</c:v>
                </c:pt>
                <c:pt idx="55">
                  <c:v>2.4559084940275255</c:v>
                </c:pt>
                <c:pt idx="56">
                  <c:v>2.5376909332922803</c:v>
                </c:pt>
                <c:pt idx="57">
                  <c:v>2.7013208888963858</c:v>
                </c:pt>
                <c:pt idx="58">
                  <c:v>2.803785425356309</c:v>
                </c:pt>
                <c:pt idx="59">
                  <c:v>2.9474213204347066</c:v>
                </c:pt>
                <c:pt idx="60">
                  <c:v>2.8551164512865324</c:v>
                </c:pt>
                <c:pt idx="61">
                  <c:v>2.8448937245174832</c:v>
                </c:pt>
                <c:pt idx="62">
                  <c:v>2.6808027890635966</c:v>
                </c:pt>
                <c:pt idx="63">
                  <c:v>2.762797093885405</c:v>
                </c:pt>
                <c:pt idx="64">
                  <c:v>2.855013306740495</c:v>
                </c:pt>
                <c:pt idx="65">
                  <c:v>4.391103973908739</c:v>
                </c:pt>
                <c:pt idx="66">
                  <c:v>4.484843730323074</c:v>
                </c:pt>
                <c:pt idx="67">
                  <c:v>4.193015967212532</c:v>
                </c:pt>
                <c:pt idx="68">
                  <c:v>4.525976016441646</c:v>
                </c:pt>
                <c:pt idx="69">
                  <c:v>4.5570294494237995</c:v>
                </c:pt>
                <c:pt idx="70">
                  <c:v>4.046031395814431</c:v>
                </c:pt>
                <c:pt idx="71">
                  <c:v>3.7455811701915476</c:v>
                </c:pt>
                <c:pt idx="72">
                  <c:v>3.7765275659538577</c:v>
                </c:pt>
                <c:pt idx="73">
                  <c:v>3.890225411907422</c:v>
                </c:pt>
                <c:pt idx="74">
                  <c:v>4.575283531443475</c:v>
                </c:pt>
                <c:pt idx="75">
                  <c:v>4.94050594134432</c:v>
                </c:pt>
                <c:pt idx="76">
                  <c:v>4.658258542783678</c:v>
                </c:pt>
                <c:pt idx="77">
                  <c:v>3.3662671524801624</c:v>
                </c:pt>
                <c:pt idx="78">
                  <c:v>3.2220204658661933</c:v>
                </c:pt>
                <c:pt idx="79">
                  <c:v>3.4286155014476183</c:v>
                </c:pt>
                <c:pt idx="80">
                  <c:v>2.893424893176899</c:v>
                </c:pt>
                <c:pt idx="81">
                  <c:v>2.5350285773626524</c:v>
                </c:pt>
                <c:pt idx="82">
                  <c:v>3.274906390573662</c:v>
                </c:pt>
                <c:pt idx="83">
                  <c:v>4.306151617159526</c:v>
                </c:pt>
                <c:pt idx="84">
                  <c:v>4.191771237832054</c:v>
                </c:pt>
                <c:pt idx="85">
                  <c:v>4.005113905034707</c:v>
                </c:pt>
                <c:pt idx="86">
                  <c:v>3.303157719890204</c:v>
                </c:pt>
                <c:pt idx="87">
                  <c:v>2.3992794287667873</c:v>
                </c:pt>
                <c:pt idx="88">
                  <c:v>1.8777271637496984</c:v>
                </c:pt>
                <c:pt idx="89">
                  <c:v>2.1324173853674466</c:v>
                </c:pt>
                <c:pt idx="90">
                  <c:v>2.3056249976072696</c:v>
                </c:pt>
                <c:pt idx="91">
                  <c:v>2.438464759566572</c:v>
                </c:pt>
                <c:pt idx="92">
                  <c:v>3.135329313827495</c:v>
                </c:pt>
                <c:pt idx="93">
                  <c:v>3.9183500316257946</c:v>
                </c:pt>
                <c:pt idx="94">
                  <c:v>4.311223325779134</c:v>
                </c:pt>
                <c:pt idx="95">
                  <c:v>4.517456886424509</c:v>
                </c:pt>
                <c:pt idx="96">
                  <c:v>4.559198112322793</c:v>
                </c:pt>
                <c:pt idx="97">
                  <c:v>5.195378642593207</c:v>
                </c:pt>
                <c:pt idx="98">
                  <c:v>6.099478544411618</c:v>
                </c:pt>
                <c:pt idx="99">
                  <c:v>6.759303889225454</c:v>
                </c:pt>
                <c:pt idx="100">
                  <c:v>8.056065441058813</c:v>
                </c:pt>
                <c:pt idx="101">
                  <c:v>8.347072365579677</c:v>
                </c:pt>
                <c:pt idx="102">
                  <c:v>8.994822840870187</c:v>
                </c:pt>
                <c:pt idx="103">
                  <c:v>9.679773624068133</c:v>
                </c:pt>
                <c:pt idx="104">
                  <c:v>10.246394955255722</c:v>
                </c:pt>
                <c:pt idx="105">
                  <c:v>10.672622156186339</c:v>
                </c:pt>
                <c:pt idx="106">
                  <c:v>10.73850090767916</c:v>
                </c:pt>
                <c:pt idx="107">
                  <c:v>10.060982737443336</c:v>
                </c:pt>
                <c:pt idx="108">
                  <c:v>10.379424844245854</c:v>
                </c:pt>
                <c:pt idx="109">
                  <c:v>10.543661726335408</c:v>
                </c:pt>
                <c:pt idx="110">
                  <c:v>11.299412129585251</c:v>
                </c:pt>
                <c:pt idx="111">
                  <c:v>12.131630216906665</c:v>
                </c:pt>
                <c:pt idx="112">
                  <c:v>11.731212845583983</c:v>
                </c:pt>
                <c:pt idx="113">
                  <c:v>11.886869625198027</c:v>
                </c:pt>
                <c:pt idx="114">
                  <c:v>10.06940331687085</c:v>
                </c:pt>
                <c:pt idx="115">
                  <c:v>8.727291292620043</c:v>
                </c:pt>
                <c:pt idx="116">
                  <c:v>7.168824789164585</c:v>
                </c:pt>
                <c:pt idx="117">
                  <c:v>6.470372234988386</c:v>
                </c:pt>
                <c:pt idx="118">
                  <c:v>5.900728970701263</c:v>
                </c:pt>
                <c:pt idx="119">
                  <c:v>5.785092907889489</c:v>
                </c:pt>
                <c:pt idx="120">
                  <c:v>5.774497041323934</c:v>
                </c:pt>
                <c:pt idx="121">
                  <c:v>5.596404965858115</c:v>
                </c:pt>
                <c:pt idx="122">
                  <c:v>4.65077985348159</c:v>
                </c:pt>
                <c:pt idx="123">
                  <c:v>4.184788058055289</c:v>
                </c:pt>
                <c:pt idx="124">
                  <c:v>3.935829143848002</c:v>
                </c:pt>
                <c:pt idx="125">
                  <c:v>3.1614737021461004</c:v>
                </c:pt>
                <c:pt idx="126">
                  <c:v>3.9923892107705194</c:v>
                </c:pt>
                <c:pt idx="127">
                  <c:v>4.608170145894341</c:v>
                </c:pt>
                <c:pt idx="128">
                  <c:v>5.185280534476955</c:v>
                </c:pt>
                <c:pt idx="129">
                  <c:v>4.819184978612423</c:v>
                </c:pt>
                <c:pt idx="130">
                  <c:v>4.683565944484158</c:v>
                </c:pt>
                <c:pt idx="131">
                  <c:v>4.62119000508181</c:v>
                </c:pt>
                <c:pt idx="132">
                  <c:v>4.506791223649453</c:v>
                </c:pt>
                <c:pt idx="133">
                  <c:v>4.4963713627921065</c:v>
                </c:pt>
                <c:pt idx="134">
                  <c:v>3.925612019964686</c:v>
                </c:pt>
                <c:pt idx="135">
                  <c:v>3.687975470639815</c:v>
                </c:pt>
                <c:pt idx="136">
                  <c:v>3.9260166114551964</c:v>
                </c:pt>
                <c:pt idx="137">
                  <c:v>4.227659366812064</c:v>
                </c:pt>
                <c:pt idx="138">
                  <c:v>4.498390807355812</c:v>
                </c:pt>
                <c:pt idx="139">
                  <c:v>4.237739553033837</c:v>
                </c:pt>
                <c:pt idx="140">
                  <c:v>4.424788005957625</c:v>
                </c:pt>
                <c:pt idx="141">
                  <c:v>4.758111822104172</c:v>
                </c:pt>
                <c:pt idx="142">
                  <c:v>4.872950241628371</c:v>
                </c:pt>
                <c:pt idx="143">
                  <c:v>4.831196748394784</c:v>
                </c:pt>
                <c:pt idx="144">
                  <c:v>4.5597290097210585</c:v>
                </c:pt>
                <c:pt idx="145">
                  <c:v>5.057617411058635</c:v>
                </c:pt>
                <c:pt idx="146">
                  <c:v>5.4772504272732725</c:v>
                </c:pt>
                <c:pt idx="147">
                  <c:v>5.529901787319957</c:v>
                </c:pt>
                <c:pt idx="148">
                  <c:v>5.3197939644519465</c:v>
                </c:pt>
                <c:pt idx="149">
                  <c:v>5.351285239090631</c:v>
                </c:pt>
                <c:pt idx="150">
                  <c:v>5.225254704078264</c:v>
                </c:pt>
                <c:pt idx="151">
                  <c:v>5.1304098184167035</c:v>
                </c:pt>
                <c:pt idx="152">
                  <c:v>5.172248701256943</c:v>
                </c:pt>
                <c:pt idx="153">
                  <c:v>4.680707129995332</c:v>
                </c:pt>
                <c:pt idx="154">
                  <c:v>4.46178173977918</c:v>
                </c:pt>
                <c:pt idx="155">
                  <c:v>4.264347581156258</c:v>
                </c:pt>
                <c:pt idx="156">
                  <c:v>4.441313524169499</c:v>
                </c:pt>
                <c:pt idx="157">
                  <c:v>3.812336659250559</c:v>
                </c:pt>
                <c:pt idx="158">
                  <c:v>4.1426398615393545</c:v>
                </c:pt>
                <c:pt idx="159">
                  <c:v>4.391510250751041</c:v>
                </c:pt>
                <c:pt idx="160">
                  <c:v>4.724719208932671</c:v>
                </c:pt>
                <c:pt idx="161">
                  <c:v>4.641069223584937</c:v>
                </c:pt>
                <c:pt idx="162">
                  <c:v>4.4428653651537475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26.6"/>
          <c:min val="2012.0"/>
        </c:scaling>
        <c:delete val="0"/>
        <c:axPos val="b"/>
        <c:numFmt formatCode="0" sourceLinked="0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 grupo e o tema: usar dados oficiais para antecipar em quais estados o varejo e os serviços devem crescer nos próximos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vai investir, abrir ou expandir um negócio precisa saber onde a demanda está crescendo. A nossa pergunta é: em quais estados o faturamento do varejo e dos serviços deve crescer acima da inflação nos próximos 3 meses. O resultado final é um ranking que serve de sugestão de investimento.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São cinco bases oficiais, todas mensais e acessadas por APIs públicas. Do IBGE vêm o faturamento do varejo e dos serviços para cada estado e o IPCA, a inflação oficial. Do Banco Central vêm o dólar e a Selic, que ajudam a explicar o consumo. Os gráficos mostram essas três séries da economia: o dólar subiu muito desde 2012, a Selic está alta de novo e a inflação voltou para perto de 4% a 5% ao 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dados chegam em formatos diferentes: o IBGE manda um JSON aninhado e o Banco Central, uma lista de datas. Organizamos tudo em linhas, descartamos símbolos que não são números, juntamos inflação, dólar e Selic pelo mês e padronizamos os nomes. A planilha de dados brutos mostra o antes; o CSV, o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IBGE não publica quanto cada setor faturou em reais; publica um índice. A média mensal de 2022 vale 100. Exemplo: o varejo do Paraná marcou 121,5 em junho de 2026, ou seja, faturou 21,5% a mais que num mês médio de 2022. Por isso comparamos crescimento em porcentagem, não tamanho. E descontamos a inflação: de 2022 a 2025 o varejo do Paraná subiu 18,8%, mas 14,6% foi inflação; o crescimento real foi de 3,7%.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esquerda, o índice como o IBGE publica: os dois setores sobem quase sempre e o varejo tem picos todo Natal. À direita, sem a inflação, dá para ver o crescimento real: de 2022 a 2025 os serviços cresceram 15,8% e o varejo, 3,7%. Em 2025 o varejo cresceu 2,7% e os serviços, 2,1%, acima da inflação.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cada estado é comparado com ele mesmo, dá para comparar o ritmo de crescimento. Em 2025 o Paraná cresceu mais nos dois setores. No primeiro semestre de 2026 a Bahia acelerou, principalmente nos serviços (+5,3% contra +0,9%). No longo prazo, de 2012 a 2025, o varejo do Paraná cresceu 20,2% acima da inflação e o da Bahia caiu 6,9%. Antecipar essas mudanças de ritmo é o papel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Seguimos as seis fases do CRISP-DM. O problema está definido; coletamos, conferimos e visualizamos os dados; e o dataset integrado está pronto. Agora vamos descontar a inflação e criar as informações que o modelo usa. Depois vêm a modelagem, a avaliação e a disponibilização por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parte é o plano. O K-means agrupa estados e setores com comportamento parecido. O Random Forest responde sim ou não: este estado, neste setor, vai crescer acima da inflação nos próximos 3 meses? E comparamos com uma regra simples: se cresceu nos últimos 3 meses, cresce nos próximos 3. O modelo só vale se acertar mais que ela. Treinamos com o passado e testamos em anos que o modelo não viu.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entregar o resultado, a ideia é uma API: um endereço na internet que qualquer sistema consulta e recebe os dados prontos. O dataset.py atualiza os dados, o modelo gera as previsões e a API responde com o histórico, o ranking ou a previsão de um estado. É mais fácil de manter que um documento e sempre traz o dado atualizado.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exemplos gerados com Python (matplotlib) a partir dos mesmos dados que a API serviria. À esquerda, o histórico do Paraná, que seria a resposta de /estados/PR/historico. À direita, o ranking do varejo no primeiro semestre de 2026: Pernambuco, Tocantins e Distrito Federal lideram, e 19 dos 27 estados cresceram acima da inflação.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grupos de desafios. Nos dados: formatos diferentes, inflação e Natal distorcendo a comparação, a pandemia fora do padrão e classes desbalanceadas no alvo. Na escolha do modelo: poucos meses por estado, o cuidado de não usar o futuro para treinar e a obrigação de superar a regra simples. Na disponibilização: atualizar tudo todo mês, comunicar a previsão como probabilidade e deixar claras as limitações.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9EC5F4"/>
                </a:solidFill>
                <a:latin typeface="Calibri"/>
              </a:rPr>
              <a:t>MINERAÇÃO DE DADOS  ·  CRISP-DM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7589520" cy="1920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Onde o faturamento vai crescer?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223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Previsão do crescimento do comércio varejista e dos serviços por estado, com dados oficiais do IBGE e do Banco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Integrantes: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adicionar os nomes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4846320"/>
            <a:ext cx="384048" cy="914400"/>
          </a:xfrm>
          <a:prstGeom prst="roundRect">
            <a:avLst>
              <a:gd name="adj" fmla="val 1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0" y="4389120"/>
            <a:ext cx="384048" cy="1371600"/>
          </a:xfrm>
          <a:prstGeom prst="roundRect">
            <a:avLst>
              <a:gd name="adj" fmla="val 1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38360" y="4572000"/>
            <a:ext cx="384048" cy="1188720"/>
          </a:xfrm>
          <a:prstGeom prst="roundRect">
            <a:avLst>
              <a:gd name="adj" fmla="val 1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1280" y="3840479"/>
            <a:ext cx="384048" cy="1920240"/>
          </a:xfrm>
          <a:prstGeom prst="roundRect">
            <a:avLst>
              <a:gd name="adj" fmla="val 1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44200" y="3383279"/>
            <a:ext cx="384048" cy="2377440"/>
          </a:xfrm>
          <a:prstGeom prst="roundRect">
            <a:avLst>
              <a:gd name="adj" fmla="val 1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247120" y="2651760"/>
            <a:ext cx="384048" cy="3108960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F2A4A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8521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F2A4A"/>
                </a:solidFill>
                <a:latin typeface="Calibri"/>
              </a:rPr>
              <a:t>Em quais estados o faturamento do varejo e dos serviços deve crescer acima da inflação nos próximos 3 meses?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5669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4B5563"/>
                </a:solidFill>
                <a:latin typeface="Calibri"/>
              </a:rPr>
              <a:t>Dar previsibilidade para apoiar decisões de investimento: onde abrir ou expandir um negócio, conceder crédito ou reforçar estoque.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Resultado esperado: </a:t>
            </a:r>
            <a:r>
              <a:rPr sz="1700" b="0" i="0">
                <a:solidFill>
                  <a:srgbClr val="4B5563"/>
                </a:solidFill>
                <a:latin typeface="Calibri"/>
              </a:rPr>
              <a:t>um ranking de estados e setores com maior chance de crescer.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08760"/>
            <a:ext cx="4782312" cy="13258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508760"/>
            <a:ext cx="12801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2A78D6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9260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F2A4A"/>
                </a:solidFill>
                <a:latin typeface="Calibri"/>
              </a:rPr>
              <a:t>setores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B5563"/>
                </a:solidFill>
                <a:latin typeface="Calibri"/>
              </a:rPr>
              <a:t>comércio varejista e serviços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081528"/>
            <a:ext cx="4782312" cy="13258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3081528"/>
            <a:ext cx="12801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2A78D6"/>
                </a:solidFill>
                <a:latin typeface="Calibri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081528"/>
            <a:ext cx="29260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F2A4A"/>
                </a:solidFill>
                <a:latin typeface="Calibri"/>
              </a:rPr>
              <a:t>estados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B5563"/>
                </a:solidFill>
                <a:latin typeface="Calibri"/>
              </a:rPr>
              <a:t>mais o Brasil como referência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654296"/>
            <a:ext cx="4782312" cy="13258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4654296"/>
            <a:ext cx="12801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2A78D6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654296"/>
            <a:ext cx="29260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F2A4A"/>
                </a:solidFill>
                <a:latin typeface="Calibri"/>
              </a:rPr>
              <a:t>meses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B5563"/>
                </a:solidFill>
                <a:latin typeface="Calibri"/>
              </a:rPr>
              <a:t>à frente: o horizonte da previsão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F2A4A"/>
                </a:solidFill>
                <a:latin typeface="Calibri"/>
              </a:rPr>
              <a:t>Bases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1672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2194560"/>
                <a:gridCol w="2788920"/>
                <a:gridCol w="1600200"/>
                <a:gridCol w="1691640"/>
                <a:gridCol w="667512"/>
              </a:tblGrid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 que mede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Recorte (mensal)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Período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Linhas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Faturamento do varejo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IBGE · PMC, tabela 8880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receita nominal (2022 = 100)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27 UFs + Brasil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jan/2012 a jun/2026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4.872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Faturamento dos serviços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IBGE · PMS, tabela 5906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receita nominal (2022 = 100)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27 UFs + Brasil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jan/2012 a jul/2026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4.900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Inflação (IPCA)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IBGE · tabela 1737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índice de preços (dez/1993 = 100)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Brasil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jan/2012 a ago/2026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Dólar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Banco Central · SGS 3698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R$ por US$, média do mês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Brasil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jan/2012 a ago/2026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Selic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Banco Central · SGS 4189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juros básicos, % ao ano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Brasil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jan/2012 a set/2026*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177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5876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* setembro de 2026 ainda em andamento; fica fora do dataset final.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4251960"/>
          <a:ext cx="3514344" cy="2057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37304" y="4251960"/>
          <a:ext cx="3514344" cy="2057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125968" y="4251960"/>
          <a:ext cx="3514344" cy="2057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F2A4A"/>
                </a:solidFill>
                <a:latin typeface="Calibri"/>
              </a:rPr>
              <a:t>Tratamentos feitos nos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035454" cy="22402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157825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Baixar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157825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5 consultas às APIs do IBGE e do Banco Central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2694" y="1463040"/>
            <a:ext cx="2035454" cy="22402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41294" y="169164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1294" y="2286000"/>
            <a:ext cx="157825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Organizar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1294" y="2697480"/>
            <a:ext cx="157825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o JSON vira tabela: uma linha por estado e mês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6748" y="1463040"/>
            <a:ext cx="2035454" cy="22402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5348" y="169164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5348" y="2286000"/>
            <a:ext cx="157825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Limpar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5348" y="2697480"/>
            <a:ext cx="157825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símbolos do IBGE (X, .., ...) descartados; texto vira número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0803" y="1463040"/>
            <a:ext cx="2035454" cy="22402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9403" y="169164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9403" y="2286000"/>
            <a:ext cx="157825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Juntar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9403" y="2697480"/>
            <a:ext cx="157825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IPCA, dólar e Selic unidos ao mês de cada linha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4857" y="1463040"/>
            <a:ext cx="2035454" cy="22402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33457" y="169164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3457" y="2286000"/>
            <a:ext cx="157825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Formatar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33457" y="2697480"/>
            <a:ext cx="157825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“São Paulo” vira SP e “202504” vira ano 2025, mês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Antes: como a API devolve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4389120"/>
          <a:ext cx="356616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100584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Localidade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Período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São Paulo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202504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118.53521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7" name="Right Arrow 26"/>
          <p:cNvSpPr/>
          <p:nvPr/>
        </p:nvSpPr>
        <p:spPr>
          <a:xfrm>
            <a:off x="4343400" y="4572000"/>
            <a:ext cx="685800" cy="411480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3977639"/>
            <a:ext cx="6291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Depois: dataset final (CSV)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349240" y="4389120"/>
          <a:ext cx="6007608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11480"/>
                <a:gridCol w="502920"/>
                <a:gridCol w="457200"/>
                <a:gridCol w="1143000"/>
                <a:gridCol w="777240"/>
                <a:gridCol w="685800"/>
                <a:gridCol w="566928"/>
              </a:tblGrid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setor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ano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indice_receita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ipca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dolar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selic</a:t>
                      </a:r>
                    </a:p>
                  </a:txBody>
                  <a:tcPr marL="64008" marR="64008" marT="18288" marB="18288" anchor="ctr">
                    <a:solidFill>
                      <a:srgbClr val="0F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COMERCIO_VAREJISTA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118,53521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7276,54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5,7837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14,15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Resultado: </a:t>
            </a:r>
            <a:r>
              <a:rPr sz="1600" b="0" i="0">
                <a:solidFill>
                  <a:srgbClr val="4B5563"/>
                </a:solidFill>
                <a:latin typeface="Calibri"/>
              </a:rPr>
              <a:t>9.772 linhas — 2 setores × 27 estados + Brasil, de jan/2012 a jul/2026, sem meses faltando.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F2A4A"/>
                </a:solidFill>
                <a:latin typeface="Calibri"/>
              </a:rPr>
              <a:t>O IBGE não divulga o faturamento em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120640" cy="4663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Exemplo: varejo do Paraná, junho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5720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8000" b="1" i="0">
                <a:solidFill>
                  <a:srgbClr val="2A78D6"/>
                </a:solidFill>
                <a:latin typeface="Calibri"/>
              </a:rPr>
              <a:t>121,5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452628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O IBGE publica um índice: a média mensal de 2022 vale 100.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121,5 = o varejo faturou 21,5% a mais que num mês médio de 2022.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Por isso comparamos quanto cada estado cresce (%), e não o tamanho em reais.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463040"/>
            <a:ext cx="5605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Calibri"/>
              </a:rPr>
              <a:t>Crescer de verdade = descontar a inflação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38528"/>
            <a:ext cx="5605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Varejo do Paraná, 2025 contra 2022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468880"/>
            <a:ext cx="150876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6060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F2A4A"/>
                </a:solidFill>
                <a:latin typeface="Calibri"/>
              </a:rPr>
              <a:t>+18,8%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3291840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faturamento (nominal)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468880"/>
            <a:ext cx="3657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6B7280"/>
                </a:solidFill>
                <a:latin typeface="Calibri"/>
              </a:rPr>
              <a:t>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59" y="2468880"/>
            <a:ext cx="150876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59" y="26060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Calibri"/>
              </a:rPr>
              <a:t>+14,6%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999" y="3291840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inflação (IPCA)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468880"/>
            <a:ext cx="3657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6B7280"/>
                </a:solidFill>
                <a:latin typeface="Calibri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468880"/>
            <a:ext cx="150876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60604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Calibri"/>
              </a:rPr>
              <a:t>+3,7%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3291840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crescimento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069080"/>
            <a:ext cx="5605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Conta exata: 1,188 ÷ 1,146 − 1 = 3,7%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663440"/>
            <a:ext cx="56052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Por que isso importa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Crescer 5% num ano de inflação de 5% é ficar parado.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Por isso o modelo vai prever crescimento acima da inflação.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F2A4A"/>
                </a:solidFill>
                <a:latin typeface="Calibri"/>
              </a:rPr>
              <a:t>Paraná: faturamento ao longo do tempo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07_historico_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680960" cy="37124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371600"/>
            <a:ext cx="3136392" cy="10972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48132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Calibri"/>
              </a:rPr>
              <a:t>+2,7%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99339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varejo em 2025, acima da inflação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651760"/>
            <a:ext cx="3136392" cy="10972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76148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Calibri"/>
              </a:rPr>
              <a:t>+2,1%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2735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serviços em 2025, acima da inflação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931920"/>
            <a:ext cx="3136392" cy="10972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404164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Calibri"/>
              </a:rPr>
              <a:t>+15,8%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55371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serviços, 2022–2025, sem inflação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Leitura: </a:t>
            </a:r>
            <a:r>
              <a:rPr sz="1600" b="0" i="0">
                <a:solidFill>
                  <a:srgbClr val="4B5563"/>
                </a:solidFill>
                <a:latin typeface="Calibri"/>
              </a:rPr>
              <a:t>com a inflação, os dois setores parecem subir muito (varejo +18,8% e serviços +32,6% de 2022 a 2025). Sem a inflação, o varejo cresceu 3,7% e os serviços, 15,8%.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F2A4A"/>
                </a:solidFill>
                <a:latin typeface="Calibri"/>
              </a:rPr>
              <a:t>Paraná × Bahia: quem cresce mais?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08_comparativo_pr_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68096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371600"/>
            <a:ext cx="3136392" cy="11887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48132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2025 contra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48132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148132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8288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Varejo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8288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+2,7%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182880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+2,0%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157984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Serviços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15798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+2,1%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2157984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−0,4%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743200"/>
            <a:ext cx="3136392" cy="11887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285292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1º semestre de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85292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285292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2004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Varejo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32004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+2,1%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320040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+2,7%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529584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Serviços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52958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+0,9%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3529584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+5,3%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114800"/>
            <a:ext cx="3136392" cy="11887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422452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De 2012 a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422452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422452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Calibri"/>
              </a:rPr>
              <a:t>BA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5720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Varejo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5720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+20,2%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457200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−6,9%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901184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Serviços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490118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+7,0%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4901184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−23,7%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4864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Leitura: </a:t>
            </a:r>
            <a:r>
              <a:rPr sz="1600" b="0" i="0">
                <a:solidFill>
                  <a:srgbClr val="4B5563"/>
                </a:solidFill>
                <a:latin typeface="Calibri"/>
              </a:rPr>
              <a:t>no longo prazo o Paraná cresceu bem mais que a Bahia, mas em 2026 a Bahia acelerou. Antecipar essas mudanças de ritmo é o papel do modelo. Todos os números já descontam a inflação.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F2A4A"/>
                </a:solidFill>
                <a:latin typeface="Calibri"/>
              </a:rPr>
              <a:t>CRISP-DM: como estamos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14344" cy="2057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2462784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Entendimento do negócio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Feito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30571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Pergunta definida: crescimento acima da inflação por setor e estado.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1417320"/>
            <a:ext cx="3514344" cy="2057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164592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0264" y="1600200"/>
            <a:ext cx="2462784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Entendimento dos dados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65904" y="22860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Calibri"/>
              </a:rPr>
              <a:t>Em andamento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904" y="2715768"/>
            <a:ext cx="30571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Fontes escolhidas, dados coletados, planilha bruta e gráficos.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1417320"/>
            <a:ext cx="3514344" cy="2057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4568" y="164592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8928" y="1600200"/>
            <a:ext cx="2462784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Preparação dos dados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4568" y="22860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Calibri"/>
              </a:rPr>
              <a:t>Em andamento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4568" y="2715768"/>
            <a:ext cx="30571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Dataset integrado pronto; faltam descontar a inflação e criar atributos.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39"/>
            <a:ext cx="3514344" cy="2057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3977639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2462784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Modelagem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6177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B5563"/>
                </a:solidFill>
                <a:latin typeface="Calibri"/>
              </a:rPr>
              <a:t>Próximo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47488"/>
            <a:ext cx="30571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K-means e Random Forest, comparados com uma regra simples.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7304" y="3749039"/>
            <a:ext cx="3514344" cy="2057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65904" y="3977639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0264" y="3931920"/>
            <a:ext cx="2462784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Avaliação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65904" y="46177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B5563"/>
                </a:solidFill>
                <a:latin typeface="Calibri"/>
              </a:rPr>
              <a:t>Próximo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5904" y="5047488"/>
            <a:ext cx="30571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Testar em 2024–2026 com precisão, recall e F1.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25968" y="3749039"/>
            <a:ext cx="3514344" cy="2057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54568" y="3977639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8928" y="3931920"/>
            <a:ext cx="2462784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Calibri"/>
              </a:rPr>
              <a:t>Implantação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54568" y="46177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B5563"/>
                </a:solidFill>
                <a:latin typeface="Calibri"/>
              </a:rPr>
              <a:t>Próximo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4568" y="5047488"/>
            <a:ext cx="30571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Disponibilizar gráficos e previsões por uma API.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O CRISP-DM é cíclico: o resultado da avaliação pode levar de volta à preparação dos dados ou ao problema.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F2A4A"/>
                </a:solidFill>
                <a:latin typeface="Calibri"/>
              </a:rPr>
              <a:t>Como vamos prever: os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14344" cy="3017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2965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Calibri"/>
              </a:rPr>
              <a:t>K-means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214884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Agrupamento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296570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B5563"/>
                </a:solidFill>
                <a:latin typeface="Calibri"/>
              </a:rPr>
              <a:t>Junta estados e setores com comportamento parecido: quanto crescem, quanto oscilam e como reagem a crises.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840480"/>
            <a:ext cx="2965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→ grupos de estados com perfil semelhante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1417320"/>
            <a:ext cx="3514344" cy="3017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1624" y="1645920"/>
            <a:ext cx="2965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Calibri"/>
              </a:rPr>
              <a:t>Random Forest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1624" y="214884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Classificação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1624" y="2651760"/>
            <a:ext cx="296570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B5563"/>
                </a:solidFill>
                <a:latin typeface="Calibri"/>
              </a:rPr>
              <a:t>Centenas de árvores de decisão votam: este estado, neste setor, vai crescer acima da inflação em 3 meses?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1624" y="3840480"/>
            <a:ext cx="2965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→ sim ou não, com a probabilidade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1417320"/>
            <a:ext cx="3514344" cy="3017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0288" y="1645920"/>
            <a:ext cx="2965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F2A4A"/>
                </a:solidFill>
                <a:latin typeface="Calibri"/>
              </a:rPr>
              <a:t>Regra de comparação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00288" y="214884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0288" y="2651760"/>
            <a:ext cx="296570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B5563"/>
                </a:solidFill>
                <a:latin typeface="Calibri"/>
              </a:rPr>
              <a:t>“Se cresceu nos últimos 3 meses, vai crescer nos próximos 3.” O modelo só vale se acertar mais que isso.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0288" y="3840480"/>
            <a:ext cx="2965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→ o mínimo que o modelo precisa superar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817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O que o modelo recebe: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681728"/>
            <a:ext cx="2505456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variação dos últimos meses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85816" y="4681728"/>
            <a:ext cx="1188719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mês do ano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11696" y="4681728"/>
            <a:ext cx="694944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IPCA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681728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Selic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4681728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dólar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468172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setor no Brasil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492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Validação no tempo: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5349240"/>
            <a:ext cx="5074920" cy="457200"/>
          </a:xfrm>
          <a:prstGeom prst="roundRect">
            <a:avLst>
              <a:gd name="adj" fmla="val 2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Treino: 2013 a 2022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534924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Validação: 2023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5349240"/>
            <a:ext cx="2084831" cy="457200"/>
          </a:xfrm>
          <a:prstGeom prst="roundRect">
            <a:avLst>
              <a:gd name="adj" fmla="val 2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Teste: 2024 a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897880"/>
            <a:ext cx="8897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O modelo aprende com o passado e é testado em anos que não viu, como aconteceria na vida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F2A4A"/>
                </a:solidFill>
                <a:latin typeface="Calibri"/>
              </a:rPr>
              <a:t>Como disponibilizar: uma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IBGE e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F2A4A"/>
                </a:solidFill>
                <a:latin typeface="Calibri"/>
              </a:rPr>
              <a:t>Banco Central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1737360"/>
            <a:ext cx="338328" cy="320040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52928" y="141732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dataset.py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F2A4A"/>
                </a:solidFill>
                <a:latin typeface="Calibri"/>
              </a:rPr>
              <a:t>coleta e trata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73168" y="1737360"/>
            <a:ext cx="338328" cy="320040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57216" y="141732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Modelo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F2A4A"/>
                </a:solidFill>
                <a:latin typeface="Calibri"/>
              </a:rPr>
              <a:t>gera a previsão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77456" y="1737360"/>
            <a:ext cx="338328" cy="320040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61504" y="141732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API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Python + FastAPI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1744" y="1737360"/>
            <a:ext cx="338328" cy="320040"/>
          </a:xfrm>
          <a:prstGeom prst="righ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65792" y="141732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F2A4A"/>
                </a:solidFill>
                <a:latin typeface="Calibri"/>
              </a:rPr>
              <a:t>Quem usa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F2A4A"/>
                </a:solidFill>
                <a:latin typeface="Calibri"/>
              </a:rPr>
              <a:t>sites, planilhas, painéis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Exemplos de endereços (endpoints)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6400800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310128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00400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2937"/>
                </a:solidFill>
                <a:latin typeface="Courier New"/>
              </a:rPr>
              <a:t>/estados/PR/historico?setor=varejo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29584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histórico do faturamento, com e sem inflação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6400800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224528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2937"/>
                </a:solidFill>
                <a:latin typeface="Courier New"/>
              </a:rPr>
              <a:t>/ranking?setor=varejo&amp;inicio=2026-01&amp;fim=2026-06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43984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estados ordenados pelo crescimento real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6400800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138928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29200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2937"/>
                </a:solidFill>
                <a:latin typeface="Courier New"/>
              </a:rPr>
              <a:t>/previsoes?setor=servicos&amp;uf=BA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358384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chance de crescer acima da inflação em 3 meses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2651760"/>
            <a:ext cx="4416552" cy="3063240"/>
          </a:xfrm>
          <a:prstGeom prst="roundRect">
            <a:avLst>
              <a:gd name="adj" fmla="val 8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283464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ADCFC"/>
                </a:solidFill>
                <a:latin typeface="Calibri"/>
              </a:rPr>
              <a:t>Exemplo de resposta de /ranking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246120"/>
            <a:ext cx="3931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[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{"uf": "PE", "crescimento_real": 10.4},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{"uf": "TO", "crescimento_real": 5.7},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{"uf": "DF", "crescimento_real": 5.2},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...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16636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Valores reais: varejo, 1º semestre de 2026 contra 2025, em 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F2A4A"/>
                </a:solidFill>
                <a:latin typeface="Calibri"/>
              </a:rPr>
              <a:t>Por que uma API: </a:t>
            </a:r>
            <a:r>
              <a:rPr sz="1500" b="0" i="0">
                <a:solidFill>
                  <a:srgbClr val="4B5563"/>
                </a:solidFill>
                <a:latin typeface="Calibri"/>
              </a:rPr>
              <a:t>qualquer sistema consulta os mesmos dados atualizados, e os gráficos são gerados na hora, sob demanda.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F2A4A"/>
                </a:solidFill>
                <a:latin typeface="Calibri"/>
              </a:rPr>
              <a:t>Exemplos do que a API pode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07_historico_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583680" cy="3182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091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F2A4A"/>
                </a:solidFill>
                <a:latin typeface="Courier New"/>
              </a:rPr>
              <a:t>GET /estados/PR/historico</a:t>
            </a:r>
            <a:r>
              <a:rPr sz="1300" b="0" i="0">
                <a:solidFill>
                  <a:srgbClr val="4B5563"/>
                </a:solidFill>
                <a:latin typeface="Calibri"/>
              </a:rPr>
              <a:t>  → histórico do varejo e dos serviços no Paraná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57800"/>
            <a:ext cx="6583680" cy="1005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61264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Destaque do 1º semestre de 2026 (varejo, sem inflação)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Pernambuco +10,4%, Tocantins +5,7% e Distrito Federal +5,2% lideram; 19 dos 27 estados cresceram.</a:t>
            </a:r>
          </a:p>
        </p:txBody>
      </p:sp>
      <p:pic>
        <p:nvPicPr>
          <p:cNvPr id="9" name="Picture 8" descr="09_varejo_por_estado_202601_2026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1417320"/>
            <a:ext cx="4114800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5512" y="58338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F2A4A"/>
                </a:solidFill>
                <a:latin typeface="Courier New"/>
              </a:rPr>
              <a:t>GET /ranking?setor=varejo&amp;inicio=2026-01&amp;fim=2026-06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→ crescimento real por estado no período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393192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F2A4A"/>
                </a:solidFill>
                <a:latin typeface="Calibri"/>
              </a:rPr>
              <a:t>Desafios que vamos enfrentar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14344" cy="4343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29657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2A4A"/>
                </a:solidFill>
                <a:latin typeface="Calibri"/>
              </a:rPr>
              <a:t>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29968"/>
            <a:ext cx="2965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limpeza, transformação e balanceamento</a:t>
            </a:r>
          </a:p>
        </p:txBody>
      </p:sp>
      <p:sp>
        <p:nvSpPr>
          <p:cNvPr id="8" name="Oval 7"/>
          <p:cNvSpPr/>
          <p:nvPr/>
        </p:nvSpPr>
        <p:spPr>
          <a:xfrm>
            <a:off x="822959" y="2551176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Formatos diferentes: JSON do IBGE, lista do Banco Central e símbolos no lugar de números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3346704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64408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Inflação e Natal distorcem: descontar o IPCA e comparar com o mesmo mês do ano anterior</a:t>
            </a:r>
          </a:p>
        </p:txBody>
      </p:sp>
      <p:sp>
        <p:nvSpPr>
          <p:cNvPr id="12" name="Oval 11"/>
          <p:cNvSpPr/>
          <p:nvPr/>
        </p:nvSpPr>
        <p:spPr>
          <a:xfrm>
            <a:off x="822959" y="4142232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59936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Pandemia (2020–2021) fora do padrão: testar o modelo com e sem esse período</a:t>
            </a:r>
          </a:p>
        </p:txBody>
      </p:sp>
      <p:sp>
        <p:nvSpPr>
          <p:cNvPr id="14" name="Oval 13"/>
          <p:cNvSpPr/>
          <p:nvPr/>
        </p:nvSpPr>
        <p:spPr>
          <a:xfrm>
            <a:off x="822959" y="4937760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55464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Balanceamento muda com o tempo: 8% de casos de alta em 2016 e 85% em 2024; usar pesos e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7304" y="1417320"/>
            <a:ext cx="3514344" cy="4343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1624" y="1645920"/>
            <a:ext cx="29657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2A4A"/>
                </a:solidFill>
                <a:latin typeface="Calibri"/>
              </a:rPr>
              <a:t>Escolha do 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1624" y="2029968"/>
            <a:ext cx="2965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o que usar e como validar</a:t>
            </a:r>
          </a:p>
        </p:txBody>
      </p:sp>
      <p:sp>
        <p:nvSpPr>
          <p:cNvPr id="19" name="Oval 18"/>
          <p:cNvSpPr/>
          <p:nvPr/>
        </p:nvSpPr>
        <p:spPr>
          <a:xfrm>
            <a:off x="4611624" y="2551176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0224" y="2468880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Poucos dados por série: cerca de 160 meses para cada estado e setor</a:t>
            </a:r>
          </a:p>
        </p:txBody>
      </p:sp>
      <p:sp>
        <p:nvSpPr>
          <p:cNvPr id="21" name="Oval 20"/>
          <p:cNvSpPr/>
          <p:nvPr/>
        </p:nvSpPr>
        <p:spPr>
          <a:xfrm>
            <a:off x="4611624" y="3346704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0224" y="3264408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Séries no tempo: treinar só com o passado, sem “vazar” o futuro</a:t>
            </a:r>
          </a:p>
        </p:txBody>
      </p:sp>
      <p:sp>
        <p:nvSpPr>
          <p:cNvPr id="23" name="Oval 22"/>
          <p:cNvSpPr/>
          <p:nvPr/>
        </p:nvSpPr>
        <p:spPr>
          <a:xfrm>
            <a:off x="4611624" y="4142232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0224" y="4059936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No K-means, escolher o número de grupos; no Random Forest, ajustar os parâmetros</a:t>
            </a:r>
          </a:p>
        </p:txBody>
      </p:sp>
      <p:sp>
        <p:nvSpPr>
          <p:cNvPr id="25" name="Oval 24"/>
          <p:cNvSpPr/>
          <p:nvPr/>
        </p:nvSpPr>
        <p:spPr>
          <a:xfrm>
            <a:off x="4611624" y="4937760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0224" y="4855464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O modelo precisa acertar mais que a regra simples para valer a pena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5968" y="1417320"/>
            <a:ext cx="3514344" cy="4343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0288" y="1645920"/>
            <a:ext cx="29657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2A4A"/>
                </a:solidFill>
                <a:latin typeface="Calibri"/>
              </a:rPr>
              <a:t>Disponibilização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0288" y="2029968"/>
            <a:ext cx="2965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levar o conhecimento a quem decide</a:t>
            </a:r>
          </a:p>
        </p:txBody>
      </p:sp>
      <p:sp>
        <p:nvSpPr>
          <p:cNvPr id="30" name="Oval 29"/>
          <p:cNvSpPr/>
          <p:nvPr/>
        </p:nvSpPr>
        <p:spPr>
          <a:xfrm>
            <a:off x="8400288" y="2551176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8888" y="2468880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O IBGE publica com cerca de 1,5 mês de atraso: atualizar dados e modelo todo mês</a:t>
            </a:r>
          </a:p>
        </p:txBody>
      </p:sp>
      <p:sp>
        <p:nvSpPr>
          <p:cNvPr id="32" name="Oval 31"/>
          <p:cNvSpPr/>
          <p:nvPr/>
        </p:nvSpPr>
        <p:spPr>
          <a:xfrm>
            <a:off x="8400288" y="3346704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8888" y="3264408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Mostrar a previsão como probabilidade, não como certeza</a:t>
            </a:r>
          </a:p>
        </p:txBody>
      </p:sp>
      <p:sp>
        <p:nvSpPr>
          <p:cNvPr id="34" name="Oval 33"/>
          <p:cNvSpPr/>
          <p:nvPr/>
        </p:nvSpPr>
        <p:spPr>
          <a:xfrm>
            <a:off x="8400288" y="4142232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8888" y="4059936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Manter a API no ar e re-treinar quando a economia mudar</a:t>
            </a:r>
          </a:p>
        </p:txBody>
      </p:sp>
      <p:sp>
        <p:nvSpPr>
          <p:cNvPr id="36" name="Oval 35"/>
          <p:cNvSpPr/>
          <p:nvPr/>
        </p:nvSpPr>
        <p:spPr>
          <a:xfrm>
            <a:off x="8400288" y="4937760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8888" y="4855464"/>
            <a:ext cx="2737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Deixar claras as limitações: índice (não R$) e empresas com 20+ pessoas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Cada desafio já tem uma estratégia prevista nas próximas fases do CRISP-DM: preparação, modelagem, avaliação e implantação.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